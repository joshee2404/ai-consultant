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.jpe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.jpe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.jpe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41167" y="908047"/>
            <a:ext cx="2207257" cy="2207257"/>
            <a:chOff x="0" y="0"/>
            <a:chExt cx="2943009" cy="2943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27" y="0"/>
              <a:ext cx="2943225" cy="2943098"/>
            </a:xfrm>
            <a:custGeom>
              <a:avLst/>
              <a:gdLst/>
              <a:ahLst/>
              <a:cxnLst/>
              <a:rect r="r" b="b" t="t" l="l"/>
              <a:pathLst>
                <a:path h="2943098" w="2943225">
                  <a:moveTo>
                    <a:pt x="127" y="1471549"/>
                  </a:moveTo>
                  <a:cubicBezTo>
                    <a:pt x="127" y="658876"/>
                    <a:pt x="659003" y="0"/>
                    <a:pt x="1471676" y="0"/>
                  </a:cubicBezTo>
                  <a:lnTo>
                    <a:pt x="1471676" y="8509"/>
                  </a:lnTo>
                  <a:lnTo>
                    <a:pt x="1471676" y="0"/>
                  </a:lnTo>
                  <a:cubicBezTo>
                    <a:pt x="2284349" y="0"/>
                    <a:pt x="2943225" y="658876"/>
                    <a:pt x="2943225" y="1471549"/>
                  </a:cubicBezTo>
                  <a:lnTo>
                    <a:pt x="2934716" y="1471549"/>
                  </a:lnTo>
                  <a:lnTo>
                    <a:pt x="2943225" y="1471549"/>
                  </a:lnTo>
                  <a:cubicBezTo>
                    <a:pt x="2943225" y="2284222"/>
                    <a:pt x="2284349" y="2943098"/>
                    <a:pt x="1471676" y="2943098"/>
                  </a:cubicBezTo>
                  <a:lnTo>
                    <a:pt x="1471676" y="2934589"/>
                  </a:lnTo>
                  <a:lnTo>
                    <a:pt x="1471676" y="2943098"/>
                  </a:lnTo>
                  <a:cubicBezTo>
                    <a:pt x="659003" y="2942971"/>
                    <a:pt x="127" y="2284222"/>
                    <a:pt x="127" y="1471549"/>
                  </a:cubicBezTo>
                  <a:lnTo>
                    <a:pt x="8636" y="1471549"/>
                  </a:lnTo>
                  <a:lnTo>
                    <a:pt x="17145" y="1471549"/>
                  </a:lnTo>
                  <a:lnTo>
                    <a:pt x="8636" y="1471549"/>
                  </a:lnTo>
                  <a:lnTo>
                    <a:pt x="127" y="1471549"/>
                  </a:lnTo>
                  <a:moveTo>
                    <a:pt x="17018" y="1471549"/>
                  </a:moveTo>
                  <a:cubicBezTo>
                    <a:pt x="17018" y="1476248"/>
                    <a:pt x="13208" y="1480058"/>
                    <a:pt x="8509" y="1480058"/>
                  </a:cubicBezTo>
                  <a:cubicBezTo>
                    <a:pt x="3810" y="1480058"/>
                    <a:pt x="0" y="1476248"/>
                    <a:pt x="0" y="1471549"/>
                  </a:cubicBezTo>
                  <a:cubicBezTo>
                    <a:pt x="0" y="1466850"/>
                    <a:pt x="3810" y="1463040"/>
                    <a:pt x="8509" y="1463040"/>
                  </a:cubicBezTo>
                  <a:cubicBezTo>
                    <a:pt x="13208" y="1463040"/>
                    <a:pt x="17018" y="1466850"/>
                    <a:pt x="17018" y="1471549"/>
                  </a:cubicBezTo>
                  <a:cubicBezTo>
                    <a:pt x="17018" y="2274951"/>
                    <a:pt x="668274" y="2926080"/>
                    <a:pt x="1471549" y="2926080"/>
                  </a:cubicBezTo>
                  <a:cubicBezTo>
                    <a:pt x="2274951" y="2926080"/>
                    <a:pt x="2926080" y="2274824"/>
                    <a:pt x="2926080" y="1471549"/>
                  </a:cubicBezTo>
                  <a:cubicBezTo>
                    <a:pt x="2926080" y="668147"/>
                    <a:pt x="2274824" y="17018"/>
                    <a:pt x="1471549" y="17018"/>
                  </a:cubicBezTo>
                  <a:lnTo>
                    <a:pt x="1471549" y="8509"/>
                  </a:lnTo>
                  <a:lnTo>
                    <a:pt x="1471549" y="17018"/>
                  </a:lnTo>
                  <a:cubicBezTo>
                    <a:pt x="668274" y="16891"/>
                    <a:pt x="17018" y="668147"/>
                    <a:pt x="17018" y="1471549"/>
                  </a:cubicBezTo>
                  <a:close/>
                </a:path>
              </a:pathLst>
            </a:custGeom>
            <a:solidFill>
              <a:srgbClr val="A3E635">
                <a:alpha val="1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35327" y="-97793"/>
            <a:ext cx="4218937" cy="4218937"/>
            <a:chOff x="0" y="0"/>
            <a:chExt cx="5625249" cy="56252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27" y="0"/>
              <a:ext cx="5625338" cy="5625338"/>
            </a:xfrm>
            <a:custGeom>
              <a:avLst/>
              <a:gdLst/>
              <a:ahLst/>
              <a:cxnLst/>
              <a:rect r="r" b="b" t="t" l="l"/>
              <a:pathLst>
                <a:path h="5625338" w="5625338">
                  <a:moveTo>
                    <a:pt x="127" y="2812669"/>
                  </a:moveTo>
                  <a:cubicBezTo>
                    <a:pt x="127" y="1259205"/>
                    <a:pt x="1259332" y="0"/>
                    <a:pt x="2812796" y="0"/>
                  </a:cubicBezTo>
                  <a:lnTo>
                    <a:pt x="2812796" y="8509"/>
                  </a:lnTo>
                  <a:lnTo>
                    <a:pt x="2812796" y="0"/>
                  </a:lnTo>
                  <a:cubicBezTo>
                    <a:pt x="4366133" y="0"/>
                    <a:pt x="5625338" y="1259205"/>
                    <a:pt x="5625338" y="2812669"/>
                  </a:cubicBezTo>
                  <a:lnTo>
                    <a:pt x="5616829" y="2812669"/>
                  </a:lnTo>
                  <a:lnTo>
                    <a:pt x="5625338" y="2812669"/>
                  </a:lnTo>
                  <a:cubicBezTo>
                    <a:pt x="5625338" y="4366006"/>
                    <a:pt x="4366133" y="5625338"/>
                    <a:pt x="2812669" y="5625338"/>
                  </a:cubicBezTo>
                  <a:lnTo>
                    <a:pt x="2812669" y="5616829"/>
                  </a:lnTo>
                  <a:lnTo>
                    <a:pt x="2812669" y="5625338"/>
                  </a:lnTo>
                  <a:cubicBezTo>
                    <a:pt x="1259332" y="5625211"/>
                    <a:pt x="127" y="4366006"/>
                    <a:pt x="127" y="2812669"/>
                  </a:cubicBezTo>
                  <a:lnTo>
                    <a:pt x="8636" y="2812669"/>
                  </a:lnTo>
                  <a:lnTo>
                    <a:pt x="17145" y="2812669"/>
                  </a:lnTo>
                  <a:lnTo>
                    <a:pt x="8636" y="2812669"/>
                  </a:lnTo>
                  <a:lnTo>
                    <a:pt x="127" y="2812669"/>
                  </a:lnTo>
                  <a:moveTo>
                    <a:pt x="17018" y="2812669"/>
                  </a:moveTo>
                  <a:cubicBezTo>
                    <a:pt x="17018" y="2817368"/>
                    <a:pt x="13208" y="2821178"/>
                    <a:pt x="8509" y="2821178"/>
                  </a:cubicBezTo>
                  <a:cubicBezTo>
                    <a:pt x="3810" y="2821178"/>
                    <a:pt x="0" y="2817368"/>
                    <a:pt x="0" y="2812669"/>
                  </a:cubicBezTo>
                  <a:cubicBezTo>
                    <a:pt x="0" y="2807970"/>
                    <a:pt x="3810" y="2804160"/>
                    <a:pt x="8509" y="2804160"/>
                  </a:cubicBezTo>
                  <a:cubicBezTo>
                    <a:pt x="13208" y="2804160"/>
                    <a:pt x="17018" y="2807970"/>
                    <a:pt x="17018" y="2812669"/>
                  </a:cubicBezTo>
                  <a:cubicBezTo>
                    <a:pt x="17018" y="4356735"/>
                    <a:pt x="1268730" y="5608320"/>
                    <a:pt x="2812669" y="5608320"/>
                  </a:cubicBezTo>
                  <a:cubicBezTo>
                    <a:pt x="4356735" y="5608320"/>
                    <a:pt x="5608320" y="4356608"/>
                    <a:pt x="5608320" y="2812669"/>
                  </a:cubicBezTo>
                  <a:cubicBezTo>
                    <a:pt x="5608447" y="1268603"/>
                    <a:pt x="4356735" y="16891"/>
                    <a:pt x="2812796" y="16891"/>
                  </a:cubicBezTo>
                  <a:lnTo>
                    <a:pt x="2812796" y="8509"/>
                  </a:lnTo>
                  <a:lnTo>
                    <a:pt x="2812796" y="17018"/>
                  </a:lnTo>
                  <a:cubicBezTo>
                    <a:pt x="1268730" y="16891"/>
                    <a:pt x="17018" y="1268603"/>
                    <a:pt x="17018" y="2812669"/>
                  </a:cubicBezTo>
                  <a:close/>
                </a:path>
              </a:pathLst>
            </a:custGeom>
            <a:solidFill>
              <a:srgbClr val="A3E635">
                <a:alpha val="1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429487" y="-1103633"/>
            <a:ext cx="6230617" cy="6230617"/>
            <a:chOff x="0" y="0"/>
            <a:chExt cx="8307489" cy="83074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27" y="0"/>
              <a:ext cx="8307578" cy="8307578"/>
            </a:xfrm>
            <a:custGeom>
              <a:avLst/>
              <a:gdLst/>
              <a:ahLst/>
              <a:cxnLst/>
              <a:rect r="r" b="b" t="t" l="l"/>
              <a:pathLst>
                <a:path h="8307578" w="8307578">
                  <a:moveTo>
                    <a:pt x="127" y="4153789"/>
                  </a:moveTo>
                  <a:cubicBezTo>
                    <a:pt x="127" y="1859661"/>
                    <a:pt x="1859788" y="0"/>
                    <a:pt x="4153916" y="0"/>
                  </a:cubicBezTo>
                  <a:lnTo>
                    <a:pt x="4153916" y="8509"/>
                  </a:lnTo>
                  <a:lnTo>
                    <a:pt x="4153916" y="0"/>
                  </a:lnTo>
                  <a:cubicBezTo>
                    <a:pt x="6447917" y="0"/>
                    <a:pt x="8307578" y="1859661"/>
                    <a:pt x="8307578" y="4153789"/>
                  </a:cubicBezTo>
                  <a:lnTo>
                    <a:pt x="8299069" y="4153789"/>
                  </a:lnTo>
                  <a:lnTo>
                    <a:pt x="8307578" y="4153789"/>
                  </a:lnTo>
                  <a:cubicBezTo>
                    <a:pt x="8307578" y="6447790"/>
                    <a:pt x="6447917" y="8307578"/>
                    <a:pt x="4153789" y="8307578"/>
                  </a:cubicBezTo>
                  <a:lnTo>
                    <a:pt x="4153789" y="8299069"/>
                  </a:lnTo>
                  <a:lnTo>
                    <a:pt x="4153789" y="8307578"/>
                  </a:lnTo>
                  <a:cubicBezTo>
                    <a:pt x="1859788" y="8307451"/>
                    <a:pt x="127" y="6447790"/>
                    <a:pt x="127" y="4153789"/>
                  </a:cubicBezTo>
                  <a:lnTo>
                    <a:pt x="8636" y="4153789"/>
                  </a:lnTo>
                  <a:lnTo>
                    <a:pt x="17145" y="4153789"/>
                  </a:lnTo>
                  <a:lnTo>
                    <a:pt x="8636" y="4153789"/>
                  </a:lnTo>
                  <a:lnTo>
                    <a:pt x="127" y="4153789"/>
                  </a:lnTo>
                  <a:moveTo>
                    <a:pt x="17018" y="4153789"/>
                  </a:moveTo>
                  <a:cubicBezTo>
                    <a:pt x="17018" y="4158488"/>
                    <a:pt x="13208" y="4162298"/>
                    <a:pt x="8509" y="4162298"/>
                  </a:cubicBezTo>
                  <a:cubicBezTo>
                    <a:pt x="3810" y="4162298"/>
                    <a:pt x="0" y="4158488"/>
                    <a:pt x="0" y="4153789"/>
                  </a:cubicBezTo>
                  <a:cubicBezTo>
                    <a:pt x="0" y="4149090"/>
                    <a:pt x="3810" y="4145280"/>
                    <a:pt x="8509" y="4145280"/>
                  </a:cubicBezTo>
                  <a:cubicBezTo>
                    <a:pt x="13208" y="4145280"/>
                    <a:pt x="17018" y="4149090"/>
                    <a:pt x="17018" y="4153789"/>
                  </a:cubicBezTo>
                  <a:cubicBezTo>
                    <a:pt x="17018" y="6438519"/>
                    <a:pt x="1869186" y="8290561"/>
                    <a:pt x="4153789" y="8290561"/>
                  </a:cubicBezTo>
                  <a:cubicBezTo>
                    <a:pt x="6438519" y="8290561"/>
                    <a:pt x="8290560" y="6438392"/>
                    <a:pt x="8290560" y="4153789"/>
                  </a:cubicBezTo>
                  <a:cubicBezTo>
                    <a:pt x="8290560" y="1869059"/>
                    <a:pt x="6438392" y="17018"/>
                    <a:pt x="4153789" y="17018"/>
                  </a:cubicBezTo>
                  <a:lnTo>
                    <a:pt x="4153789" y="8509"/>
                  </a:lnTo>
                  <a:lnTo>
                    <a:pt x="4153789" y="17018"/>
                  </a:lnTo>
                  <a:cubicBezTo>
                    <a:pt x="1869186" y="16891"/>
                    <a:pt x="17018" y="1869059"/>
                    <a:pt x="17018" y="4153789"/>
                  </a:cubicBezTo>
                  <a:close/>
                </a:path>
              </a:pathLst>
            </a:custGeom>
            <a:solidFill>
              <a:srgbClr val="A3E635">
                <a:alpha val="549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23647" y="-2109473"/>
            <a:ext cx="8242297" cy="8242297"/>
            <a:chOff x="0" y="0"/>
            <a:chExt cx="10989729" cy="10989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27" y="0"/>
              <a:ext cx="10989818" cy="10989818"/>
            </a:xfrm>
            <a:custGeom>
              <a:avLst/>
              <a:gdLst/>
              <a:ahLst/>
              <a:cxnLst/>
              <a:rect r="r" b="b" t="t" l="l"/>
              <a:pathLst>
                <a:path h="10989818" w="10989818">
                  <a:moveTo>
                    <a:pt x="127" y="5494909"/>
                  </a:moveTo>
                  <a:cubicBezTo>
                    <a:pt x="127" y="2460117"/>
                    <a:pt x="2460244" y="0"/>
                    <a:pt x="5495036" y="0"/>
                  </a:cubicBezTo>
                  <a:lnTo>
                    <a:pt x="5495036" y="8509"/>
                  </a:lnTo>
                  <a:lnTo>
                    <a:pt x="5495036" y="0"/>
                  </a:lnTo>
                  <a:cubicBezTo>
                    <a:pt x="8529701" y="0"/>
                    <a:pt x="10989818" y="2460117"/>
                    <a:pt x="10989818" y="5494909"/>
                  </a:cubicBezTo>
                  <a:lnTo>
                    <a:pt x="10981309" y="5494909"/>
                  </a:lnTo>
                  <a:lnTo>
                    <a:pt x="10989818" y="5494909"/>
                  </a:lnTo>
                  <a:cubicBezTo>
                    <a:pt x="10989818" y="8529701"/>
                    <a:pt x="8529701" y="10989818"/>
                    <a:pt x="5494909" y="10989818"/>
                  </a:cubicBezTo>
                  <a:lnTo>
                    <a:pt x="5494909" y="10981310"/>
                  </a:lnTo>
                  <a:lnTo>
                    <a:pt x="5494909" y="10989818"/>
                  </a:lnTo>
                  <a:cubicBezTo>
                    <a:pt x="2460244" y="10989691"/>
                    <a:pt x="127" y="8529574"/>
                    <a:pt x="127" y="5494909"/>
                  </a:cubicBezTo>
                  <a:lnTo>
                    <a:pt x="8636" y="5494909"/>
                  </a:lnTo>
                  <a:lnTo>
                    <a:pt x="17145" y="5494909"/>
                  </a:lnTo>
                  <a:lnTo>
                    <a:pt x="8636" y="5494909"/>
                  </a:lnTo>
                  <a:lnTo>
                    <a:pt x="127" y="5494909"/>
                  </a:lnTo>
                  <a:moveTo>
                    <a:pt x="17018" y="5494909"/>
                  </a:moveTo>
                  <a:cubicBezTo>
                    <a:pt x="17018" y="5499608"/>
                    <a:pt x="13208" y="5503418"/>
                    <a:pt x="8509" y="5503418"/>
                  </a:cubicBezTo>
                  <a:cubicBezTo>
                    <a:pt x="3810" y="5503418"/>
                    <a:pt x="0" y="5499608"/>
                    <a:pt x="0" y="5494909"/>
                  </a:cubicBezTo>
                  <a:cubicBezTo>
                    <a:pt x="0" y="5490210"/>
                    <a:pt x="3810" y="5486400"/>
                    <a:pt x="8509" y="5486400"/>
                  </a:cubicBezTo>
                  <a:cubicBezTo>
                    <a:pt x="13208" y="5486400"/>
                    <a:pt x="17018" y="5490210"/>
                    <a:pt x="17018" y="5494909"/>
                  </a:cubicBezTo>
                  <a:cubicBezTo>
                    <a:pt x="17018" y="8520303"/>
                    <a:pt x="2469642" y="10972800"/>
                    <a:pt x="5495036" y="10972800"/>
                  </a:cubicBezTo>
                  <a:cubicBezTo>
                    <a:pt x="8520430" y="10972800"/>
                    <a:pt x="10972927" y="8520303"/>
                    <a:pt x="10972927" y="5494909"/>
                  </a:cubicBezTo>
                  <a:cubicBezTo>
                    <a:pt x="10972927" y="2469515"/>
                    <a:pt x="8520430" y="16891"/>
                    <a:pt x="5495036" y="16891"/>
                  </a:cubicBezTo>
                  <a:lnTo>
                    <a:pt x="5495036" y="8509"/>
                  </a:lnTo>
                  <a:lnTo>
                    <a:pt x="5495036" y="17018"/>
                  </a:lnTo>
                  <a:cubicBezTo>
                    <a:pt x="2469642" y="16891"/>
                    <a:pt x="17018" y="2469515"/>
                    <a:pt x="17018" y="5494909"/>
                  </a:cubicBezTo>
                  <a:close/>
                </a:path>
              </a:pathLst>
            </a:custGeom>
            <a:solidFill>
              <a:srgbClr val="A3E635">
                <a:alpha val="2353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21159" y="8491223"/>
            <a:ext cx="244859" cy="244859"/>
            <a:chOff x="0" y="0"/>
            <a:chExt cx="326479" cy="3264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203" y="292608"/>
                    <a:pt x="146304" y="292608"/>
                  </a:cubicBezTo>
                  <a:cubicBezTo>
                    <a:pt x="65405" y="292608"/>
                    <a:pt x="0" y="227203"/>
                    <a:pt x="0" y="146304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6390" cy="326390"/>
            </a:xfrm>
            <a:custGeom>
              <a:avLst/>
              <a:gdLst/>
              <a:ahLst/>
              <a:cxnLst/>
              <a:rect r="r" b="b" t="t" l="l"/>
              <a:pathLst>
                <a:path h="326390" w="326390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lnTo>
                    <a:pt x="163195" y="16891"/>
                  </a:lnTo>
                  <a:lnTo>
                    <a:pt x="163195" y="0"/>
                  </a:lnTo>
                  <a:cubicBezTo>
                    <a:pt x="253365" y="0"/>
                    <a:pt x="326390" y="73025"/>
                    <a:pt x="326390" y="163195"/>
                  </a:cubicBezTo>
                  <a:lnTo>
                    <a:pt x="309499" y="163195"/>
                  </a:lnTo>
                  <a:lnTo>
                    <a:pt x="326390" y="163195"/>
                  </a:lnTo>
                  <a:cubicBezTo>
                    <a:pt x="326390" y="253365"/>
                    <a:pt x="253365" y="326390"/>
                    <a:pt x="163195" y="326390"/>
                  </a:cubicBezTo>
                  <a:lnTo>
                    <a:pt x="163195" y="309499"/>
                  </a:lnTo>
                  <a:lnTo>
                    <a:pt x="163195" y="326390"/>
                  </a:lnTo>
                  <a:cubicBezTo>
                    <a:pt x="73025" y="326517"/>
                    <a:pt x="0" y="253365"/>
                    <a:pt x="0" y="163195"/>
                  </a:cubicBezTo>
                  <a:lnTo>
                    <a:pt x="16891" y="163195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0" y="163195"/>
                  </a:lnTo>
                  <a:moveTo>
                    <a:pt x="33909" y="163195"/>
                  </a:moveTo>
                  <a:cubicBezTo>
                    <a:pt x="33909" y="172593"/>
                    <a:pt x="26289" y="180086"/>
                    <a:pt x="17018" y="180086"/>
                  </a:cubicBezTo>
                  <a:cubicBezTo>
                    <a:pt x="7747" y="180086"/>
                    <a:pt x="0" y="172593"/>
                    <a:pt x="0" y="163195"/>
                  </a:cubicBezTo>
                  <a:cubicBezTo>
                    <a:pt x="0" y="153797"/>
                    <a:pt x="7620" y="146304"/>
                    <a:pt x="16891" y="146304"/>
                  </a:cubicBezTo>
                  <a:cubicBezTo>
                    <a:pt x="26162" y="146304"/>
                    <a:pt x="33782" y="153924"/>
                    <a:pt x="33782" y="163195"/>
                  </a:cubicBezTo>
                  <a:cubicBezTo>
                    <a:pt x="33782" y="234696"/>
                    <a:pt x="91694" y="292608"/>
                    <a:pt x="163195" y="292608"/>
                  </a:cubicBezTo>
                  <a:cubicBezTo>
                    <a:pt x="234696" y="292608"/>
                    <a:pt x="292608" y="234696"/>
                    <a:pt x="292608" y="163195"/>
                  </a:cubicBezTo>
                  <a:cubicBezTo>
                    <a:pt x="292608" y="91694"/>
                    <a:pt x="234696" y="33782"/>
                    <a:pt x="163195" y="33782"/>
                  </a:cubicBezTo>
                  <a:lnTo>
                    <a:pt x="163195" y="16891"/>
                  </a:lnTo>
                  <a:lnTo>
                    <a:pt x="163195" y="33909"/>
                  </a:lnTo>
                  <a:cubicBezTo>
                    <a:pt x="91821" y="33909"/>
                    <a:pt x="33909" y="91821"/>
                    <a:pt x="33909" y="163195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703" y="9039863"/>
            <a:ext cx="171707" cy="171707"/>
            <a:chOff x="0" y="0"/>
            <a:chExt cx="228943" cy="2289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01703" y="755399"/>
            <a:ext cx="3865883" cy="574043"/>
            <a:chOff x="0" y="0"/>
            <a:chExt cx="5154511" cy="7653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54422" cy="765304"/>
            </a:xfrm>
            <a:custGeom>
              <a:avLst/>
              <a:gdLst/>
              <a:ahLst/>
              <a:cxnLst/>
              <a:rect r="r" b="b" t="t" l="l"/>
              <a:pathLst>
                <a:path h="765304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748411"/>
                  </a:lnTo>
                  <a:cubicBezTo>
                    <a:pt x="5154422" y="757809"/>
                    <a:pt x="5146802" y="765302"/>
                    <a:pt x="513753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5137531" y="731520"/>
                  </a:lnTo>
                  <a:lnTo>
                    <a:pt x="5137531" y="748411"/>
                  </a:lnTo>
                  <a:lnTo>
                    <a:pt x="5120640" y="748411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768096"/>
            <a:ext cx="3840480" cy="548640"/>
            <a:chOff x="0" y="0"/>
            <a:chExt cx="512064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1206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 spc="200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Zeb Fractal </a:t>
              </a:r>
              <a:r>
                <a:rPr lang="en-US" b="true" sz="1500" spc="200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1609344"/>
            <a:ext cx="12435840" cy="1609344"/>
            <a:chOff x="0" y="0"/>
            <a:chExt cx="16581120" cy="2145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58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71450"/>
              <a:ext cx="16581120" cy="2317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Readiness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3145536"/>
            <a:ext cx="12435840" cy="1060704"/>
            <a:chOff x="0" y="0"/>
            <a:chExt cx="16581120" cy="14142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8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45" r="0" b="-17844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14300"/>
              <a:ext cx="16581120" cy="1528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Decision Intelligence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4133088"/>
            <a:ext cx="12435840" cy="1060704"/>
            <a:chOff x="0" y="0"/>
            <a:chExt cx="16581120" cy="14142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581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445" r="0" b="-1784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14300"/>
              <a:ext cx="16581120" cy="1528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1703" y="5437127"/>
            <a:ext cx="6426203" cy="80267"/>
            <a:chOff x="0" y="0"/>
            <a:chExt cx="8568271" cy="1070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8534400" cy="73152"/>
            </a:xfrm>
            <a:custGeom>
              <a:avLst/>
              <a:gdLst/>
              <a:ahLst/>
              <a:cxnLst/>
              <a:rect r="r" b="b" t="t" l="l"/>
              <a:pathLst>
                <a:path h="7315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68182" cy="106936"/>
            </a:xfrm>
            <a:custGeom>
              <a:avLst/>
              <a:gdLst/>
              <a:ahLst/>
              <a:cxnLst/>
              <a:rect r="r" b="b" t="t" l="l"/>
              <a:pathLst>
                <a:path h="106936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90043"/>
                  </a:lnTo>
                  <a:cubicBezTo>
                    <a:pt x="8568182" y="99441"/>
                    <a:pt x="8560562" y="106934"/>
                    <a:pt x="855129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8551291" y="73152"/>
                  </a:lnTo>
                  <a:lnTo>
                    <a:pt x="8551291" y="90043"/>
                  </a:lnTo>
                  <a:lnTo>
                    <a:pt x="8534400" y="90043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5679319"/>
            <a:ext cx="10058400" cy="1316736"/>
            <a:chOff x="0" y="0"/>
            <a:chExt cx="13411200" cy="17556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112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844" r="0" b="-9884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52400"/>
              <a:ext cx="13411200" cy="1908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Submit a form. Get a McKinsey-grade</a:t>
              </a:r>
            </a:p>
            <a:p>
              <a:pPr algn="l">
                <a:lnSpc>
                  <a:spcPts val="4032"/>
                </a:lnSpc>
              </a:pPr>
              <a:r>
                <a:rPr lang="en-US" sz="24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 roadmap in seconds.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7448807"/>
            <a:ext cx="2914907" cy="574043"/>
            <a:chOff x="0" y="0"/>
            <a:chExt cx="3886543" cy="7653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3852672" cy="731520"/>
            </a:xfrm>
            <a:custGeom>
              <a:avLst/>
              <a:gdLst/>
              <a:ahLst/>
              <a:cxnLst/>
              <a:rect r="r" b="b" t="t" l="l"/>
              <a:pathLst>
                <a:path h="73152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86454" cy="765304"/>
            </a:xfrm>
            <a:custGeom>
              <a:avLst/>
              <a:gdLst/>
              <a:ahLst/>
              <a:cxnLst/>
              <a:rect r="r" b="b" t="t" l="l"/>
              <a:pathLst>
                <a:path h="765304" w="3886454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748411"/>
                  </a:lnTo>
                  <a:cubicBezTo>
                    <a:pt x="3886454" y="757809"/>
                    <a:pt x="3878834" y="765302"/>
                    <a:pt x="38695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869563" y="731520"/>
                  </a:lnTo>
                  <a:lnTo>
                    <a:pt x="3869563" y="748411"/>
                  </a:lnTo>
                  <a:lnTo>
                    <a:pt x="3852672" y="74841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01703" y="7448807"/>
            <a:ext cx="116843" cy="574043"/>
            <a:chOff x="0" y="0"/>
            <a:chExt cx="155791" cy="7653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33856" y="7461504"/>
            <a:ext cx="2560320" cy="548640"/>
            <a:chOff x="0" y="0"/>
            <a:chExt cx="341376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047239" y="7448807"/>
            <a:ext cx="2914907" cy="574043"/>
            <a:chOff x="0" y="0"/>
            <a:chExt cx="3886543" cy="7653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3852672" cy="731520"/>
            </a:xfrm>
            <a:custGeom>
              <a:avLst/>
              <a:gdLst/>
              <a:ahLst/>
              <a:cxnLst/>
              <a:rect r="r" b="b" t="t" l="l"/>
              <a:pathLst>
                <a:path h="73152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86454" cy="765304"/>
            </a:xfrm>
            <a:custGeom>
              <a:avLst/>
              <a:gdLst/>
              <a:ahLst/>
              <a:cxnLst/>
              <a:rect r="r" b="b" t="t" l="l"/>
              <a:pathLst>
                <a:path h="765304" w="3886454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748411"/>
                  </a:lnTo>
                  <a:cubicBezTo>
                    <a:pt x="3886454" y="757809"/>
                    <a:pt x="3878834" y="765302"/>
                    <a:pt x="38695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869563" y="731520"/>
                  </a:lnTo>
                  <a:lnTo>
                    <a:pt x="3869563" y="748411"/>
                  </a:lnTo>
                  <a:lnTo>
                    <a:pt x="3852672" y="74841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047239" y="7448807"/>
            <a:ext cx="116843" cy="574043"/>
            <a:chOff x="0" y="0"/>
            <a:chExt cx="155791" cy="7653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279392" y="7461504"/>
            <a:ext cx="2560320" cy="548640"/>
            <a:chOff x="0" y="0"/>
            <a:chExt cx="341376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Amazon Titan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192775" y="7448807"/>
            <a:ext cx="2914907" cy="574043"/>
            <a:chOff x="0" y="0"/>
            <a:chExt cx="3886543" cy="7653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3852672" cy="731520"/>
            </a:xfrm>
            <a:custGeom>
              <a:avLst/>
              <a:gdLst/>
              <a:ahLst/>
              <a:cxnLst/>
              <a:rect r="r" b="b" t="t" l="l"/>
              <a:pathLst>
                <a:path h="73152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86454" cy="765304"/>
            </a:xfrm>
            <a:custGeom>
              <a:avLst/>
              <a:gdLst/>
              <a:ahLst/>
              <a:cxnLst/>
              <a:rect r="r" b="b" t="t" l="l"/>
              <a:pathLst>
                <a:path h="765304" w="3886454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748411"/>
                  </a:lnTo>
                  <a:cubicBezTo>
                    <a:pt x="3886454" y="757809"/>
                    <a:pt x="3878834" y="765302"/>
                    <a:pt x="38695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869563" y="731520"/>
                  </a:lnTo>
                  <a:lnTo>
                    <a:pt x="3869563" y="748411"/>
                  </a:lnTo>
                  <a:lnTo>
                    <a:pt x="3852672" y="74841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192775" y="7448807"/>
            <a:ext cx="116843" cy="574043"/>
            <a:chOff x="0" y="0"/>
            <a:chExt cx="155791" cy="76539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424928" y="7461504"/>
            <a:ext cx="2560320" cy="548640"/>
            <a:chOff x="0" y="0"/>
            <a:chExt cx="341376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AWS Bedrock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01703" y="8216903"/>
            <a:ext cx="2914907" cy="574043"/>
            <a:chOff x="0" y="0"/>
            <a:chExt cx="3886543" cy="7653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3852672" cy="731520"/>
            </a:xfrm>
            <a:custGeom>
              <a:avLst/>
              <a:gdLst/>
              <a:ahLst/>
              <a:cxnLst/>
              <a:rect r="r" b="b" t="t" l="l"/>
              <a:pathLst>
                <a:path h="73152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886454" cy="765304"/>
            </a:xfrm>
            <a:custGeom>
              <a:avLst/>
              <a:gdLst/>
              <a:ahLst/>
              <a:cxnLst/>
              <a:rect r="r" b="b" t="t" l="l"/>
              <a:pathLst>
                <a:path h="765304" w="3886454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748411"/>
                  </a:lnTo>
                  <a:cubicBezTo>
                    <a:pt x="3886454" y="757809"/>
                    <a:pt x="3878834" y="765302"/>
                    <a:pt x="38695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869563" y="731520"/>
                  </a:lnTo>
                  <a:lnTo>
                    <a:pt x="3869563" y="748411"/>
                  </a:lnTo>
                  <a:lnTo>
                    <a:pt x="3852672" y="74841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01703" y="8216903"/>
            <a:ext cx="116843" cy="574043"/>
            <a:chOff x="0" y="0"/>
            <a:chExt cx="155791" cy="7653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33856" y="8229600"/>
            <a:ext cx="2560320" cy="548640"/>
            <a:chOff x="0" y="0"/>
            <a:chExt cx="34137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047239" y="8216903"/>
            <a:ext cx="2914907" cy="574043"/>
            <a:chOff x="0" y="0"/>
            <a:chExt cx="3886543" cy="76539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3852672" cy="731520"/>
            </a:xfrm>
            <a:custGeom>
              <a:avLst/>
              <a:gdLst/>
              <a:ahLst/>
              <a:cxnLst/>
              <a:rect r="r" b="b" t="t" l="l"/>
              <a:pathLst>
                <a:path h="731520" w="3852672">
                  <a:moveTo>
                    <a:pt x="0" y="0"/>
                  </a:moveTo>
                  <a:lnTo>
                    <a:pt x="3852672" y="0"/>
                  </a:lnTo>
                  <a:lnTo>
                    <a:pt x="3852672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886454" cy="765304"/>
            </a:xfrm>
            <a:custGeom>
              <a:avLst/>
              <a:gdLst/>
              <a:ahLst/>
              <a:cxnLst/>
              <a:rect r="r" b="b" t="t" l="l"/>
              <a:pathLst>
                <a:path h="765304" w="3886454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748411"/>
                  </a:lnTo>
                  <a:cubicBezTo>
                    <a:pt x="3886454" y="757809"/>
                    <a:pt x="3878834" y="765302"/>
                    <a:pt x="3869563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869563" y="731520"/>
                  </a:lnTo>
                  <a:lnTo>
                    <a:pt x="3869563" y="748411"/>
                  </a:lnTo>
                  <a:lnTo>
                    <a:pt x="3852672" y="74841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047239" y="8216903"/>
            <a:ext cx="116843" cy="574043"/>
            <a:chOff x="0" y="0"/>
            <a:chExt cx="155791" cy="76539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219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5702" cy="765304"/>
            </a:xfrm>
            <a:custGeom>
              <a:avLst/>
              <a:gdLst/>
              <a:ahLst/>
              <a:cxnLst/>
              <a:rect r="r" b="b" t="t" l="l"/>
              <a:pathLst>
                <a:path h="765304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748411"/>
                  </a:lnTo>
                  <a:cubicBezTo>
                    <a:pt x="155702" y="757809"/>
                    <a:pt x="148082" y="765302"/>
                    <a:pt x="13881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38811" y="731520"/>
                  </a:lnTo>
                  <a:lnTo>
                    <a:pt x="138811" y="748411"/>
                  </a:lnTo>
                  <a:lnTo>
                    <a:pt x="121920" y="748411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279392" y="8229600"/>
            <a:ext cx="2560320" cy="548640"/>
            <a:chOff x="0" y="0"/>
            <a:chExt cx="3413760" cy="731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04875" y="8988171"/>
            <a:ext cx="6419850" cy="567690"/>
            <a:chOff x="0" y="0"/>
            <a:chExt cx="8559800" cy="7569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2700" y="1270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559800" cy="756920"/>
            </a:xfrm>
            <a:custGeom>
              <a:avLst/>
              <a:gdLst/>
              <a:ahLst/>
              <a:cxnLst/>
              <a:rect r="r" b="b" t="t" l="l"/>
              <a:pathLst>
                <a:path h="756920" w="8559800">
                  <a:moveTo>
                    <a:pt x="12700" y="0"/>
                  </a:moveTo>
                  <a:lnTo>
                    <a:pt x="8547100" y="0"/>
                  </a:lnTo>
                  <a:cubicBezTo>
                    <a:pt x="8554085" y="0"/>
                    <a:pt x="8559800" y="5715"/>
                    <a:pt x="8559800" y="12700"/>
                  </a:cubicBezTo>
                  <a:lnTo>
                    <a:pt x="8559800" y="744220"/>
                  </a:lnTo>
                  <a:cubicBezTo>
                    <a:pt x="8559800" y="751205"/>
                    <a:pt x="8554085" y="756920"/>
                    <a:pt x="8547100" y="756920"/>
                  </a:cubicBezTo>
                  <a:lnTo>
                    <a:pt x="12700" y="756920"/>
                  </a:lnTo>
                  <a:cubicBezTo>
                    <a:pt x="5715" y="756920"/>
                    <a:pt x="0" y="751205"/>
                    <a:pt x="0" y="744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12700" y="731520"/>
                  </a:lnTo>
                  <a:lnTo>
                    <a:pt x="8547100" y="731520"/>
                  </a:lnTo>
                  <a:lnTo>
                    <a:pt x="8547100" y="744220"/>
                  </a:lnTo>
                  <a:lnTo>
                    <a:pt x="8534400" y="744220"/>
                  </a:lnTo>
                  <a:lnTo>
                    <a:pt x="8534400" y="12700"/>
                  </a:lnTo>
                  <a:lnTo>
                    <a:pt x="8547100" y="12700"/>
                  </a:lnTo>
                  <a:lnTo>
                    <a:pt x="8547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14400" y="8997696"/>
            <a:ext cx="6400800" cy="548640"/>
            <a:chOff x="0" y="0"/>
            <a:chExt cx="853440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85344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Assistant Chat (Claude 3.5 Sonnet)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1702394" y="111757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59" y="0"/>
                </a:lnTo>
                <a:lnTo>
                  <a:pt x="1852759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Why companies fail at AI adoption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1596647"/>
            <a:ext cx="4414523" cy="7980683"/>
            <a:chOff x="0" y="0"/>
            <a:chExt cx="5886031" cy="10640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85216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85942" cy="10640822"/>
            </a:xfrm>
            <a:custGeom>
              <a:avLst/>
              <a:gdLst/>
              <a:ahLst/>
              <a:cxnLst/>
              <a:rect r="r" b="b" t="t" l="l"/>
              <a:pathLst>
                <a:path h="1064082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0623931"/>
                  </a:lnTo>
                  <a:cubicBezTo>
                    <a:pt x="5885942" y="10633329"/>
                    <a:pt x="5878322" y="10640822"/>
                    <a:pt x="5869051" y="10640822"/>
                  </a:cubicBezTo>
                  <a:lnTo>
                    <a:pt x="16891" y="10640822"/>
                  </a:lnTo>
                  <a:cubicBezTo>
                    <a:pt x="7493" y="10640822"/>
                    <a:pt x="0" y="10633202"/>
                    <a:pt x="0" y="10623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23931"/>
                  </a:lnTo>
                  <a:lnTo>
                    <a:pt x="16891" y="10623931"/>
                  </a:lnTo>
                  <a:lnTo>
                    <a:pt x="16891" y="10607040"/>
                  </a:lnTo>
                  <a:lnTo>
                    <a:pt x="5869051" y="10607040"/>
                  </a:lnTo>
                  <a:lnTo>
                    <a:pt x="5869051" y="10623931"/>
                  </a:lnTo>
                  <a:lnTo>
                    <a:pt x="5852160" y="1062393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18823" y="1596647"/>
            <a:ext cx="4414523" cy="135131"/>
            <a:chOff x="0" y="0"/>
            <a:chExt cx="5886031" cy="1801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5852160" cy="146304"/>
            </a:xfrm>
            <a:custGeom>
              <a:avLst/>
              <a:gdLst/>
              <a:ahLst/>
              <a:cxnLst/>
              <a:rect r="r" b="b" t="t" l="l"/>
              <a:pathLst>
                <a:path h="14630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85942" cy="180088"/>
            </a:xfrm>
            <a:custGeom>
              <a:avLst/>
              <a:gdLst/>
              <a:ahLst/>
              <a:cxnLst/>
              <a:rect r="r" b="b" t="t" l="l"/>
              <a:pathLst>
                <a:path h="180088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163195"/>
                  </a:lnTo>
                  <a:cubicBezTo>
                    <a:pt x="5885942" y="172593"/>
                    <a:pt x="5878322" y="180086"/>
                    <a:pt x="586905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5869051" y="146304"/>
                  </a:lnTo>
                  <a:lnTo>
                    <a:pt x="5869051" y="163195"/>
                  </a:lnTo>
                  <a:lnTo>
                    <a:pt x="5852160" y="163195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31520" y="2011680"/>
            <a:ext cx="4389120" cy="2560320"/>
            <a:chOff x="0" y="0"/>
            <a:chExt cx="585216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23850"/>
              <a:ext cx="5852160" cy="3737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720"/>
                </a:lnSpc>
              </a:pPr>
              <a:r>
                <a:rPr lang="en-US" sz="156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85%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4663440"/>
            <a:ext cx="3840480" cy="1737360"/>
            <a:chOff x="0" y="0"/>
            <a:chExt cx="5120640" cy="2316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42" t="0" r="-804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5120640" cy="2440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AI initiatives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fail or stall before</a:t>
              </a:r>
            </a:p>
            <a:p>
              <a:pPr algn="ctr">
                <a:lnSpc>
                  <a:spcPts val="336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delivering value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40" y="8997696"/>
            <a:ext cx="3840480" cy="402336"/>
            <a:chOff x="0" y="0"/>
            <a:chExt cx="5120640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536448"/>
            </a:xfrm>
            <a:custGeom>
              <a:avLst/>
              <a:gdLst/>
              <a:ahLst/>
              <a:cxnLst/>
              <a:rect r="r" b="b" t="t" l="l"/>
              <a:pathLst>
                <a:path h="5364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1206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McKinsey Global AI Survey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568315" y="1636395"/>
            <a:ext cx="5834634" cy="3457194"/>
            <a:chOff x="0" y="0"/>
            <a:chExt cx="7779512" cy="4609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7754112" cy="4584192"/>
            </a:xfrm>
            <a:custGeom>
              <a:avLst/>
              <a:gdLst/>
              <a:ahLst/>
              <a:cxnLst/>
              <a:rect r="r" b="b" t="t" l="l"/>
              <a:pathLst>
                <a:path h="4584192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79512" cy="4609592"/>
            </a:xfrm>
            <a:custGeom>
              <a:avLst/>
              <a:gdLst/>
              <a:ahLst/>
              <a:cxnLst/>
              <a:rect r="r" b="b" t="t" l="l"/>
              <a:pathLst>
                <a:path h="4609592" w="7779512">
                  <a:moveTo>
                    <a:pt x="12700" y="0"/>
                  </a:moveTo>
                  <a:lnTo>
                    <a:pt x="7766812" y="0"/>
                  </a:lnTo>
                  <a:cubicBezTo>
                    <a:pt x="7773797" y="0"/>
                    <a:pt x="7779512" y="5715"/>
                    <a:pt x="7779512" y="12700"/>
                  </a:cubicBezTo>
                  <a:lnTo>
                    <a:pt x="7779512" y="4596892"/>
                  </a:lnTo>
                  <a:cubicBezTo>
                    <a:pt x="7779512" y="4603877"/>
                    <a:pt x="7773797" y="4609592"/>
                    <a:pt x="7766812" y="4609592"/>
                  </a:cubicBezTo>
                  <a:lnTo>
                    <a:pt x="12700" y="4609592"/>
                  </a:lnTo>
                  <a:cubicBezTo>
                    <a:pt x="5715" y="4609592"/>
                    <a:pt x="0" y="4603877"/>
                    <a:pt x="0" y="459689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96892"/>
                  </a:lnTo>
                  <a:lnTo>
                    <a:pt x="12700" y="4596892"/>
                  </a:lnTo>
                  <a:lnTo>
                    <a:pt x="12700" y="4584192"/>
                  </a:lnTo>
                  <a:lnTo>
                    <a:pt x="7766812" y="4584192"/>
                  </a:lnTo>
                  <a:lnTo>
                    <a:pt x="7766812" y="4596892"/>
                  </a:lnTo>
                  <a:lnTo>
                    <a:pt x="7754112" y="4596892"/>
                  </a:lnTo>
                  <a:lnTo>
                    <a:pt x="7754112" y="12700"/>
                  </a:lnTo>
                  <a:lnTo>
                    <a:pt x="7766812" y="12700"/>
                  </a:lnTo>
                  <a:lnTo>
                    <a:pt x="776681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565143" y="1633223"/>
            <a:ext cx="5840987" cy="116843"/>
            <a:chOff x="0" y="0"/>
            <a:chExt cx="7787983" cy="1557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754112" cy="121920"/>
            </a:xfrm>
            <a:custGeom>
              <a:avLst/>
              <a:gdLst/>
              <a:ahLst/>
              <a:cxnLst/>
              <a:rect r="r" b="b" t="t" l="l"/>
              <a:pathLst>
                <a:path h="12192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87894" cy="155704"/>
            </a:xfrm>
            <a:custGeom>
              <a:avLst/>
              <a:gdLst/>
              <a:ahLst/>
              <a:cxnLst/>
              <a:rect r="r" b="b" t="t" l="l"/>
              <a:pathLst>
                <a:path h="155704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138811"/>
                  </a:lnTo>
                  <a:cubicBezTo>
                    <a:pt x="7787894" y="148209"/>
                    <a:pt x="7780274" y="155702"/>
                    <a:pt x="7771003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771003" y="121920"/>
                  </a:lnTo>
                  <a:lnTo>
                    <a:pt x="7771003" y="138811"/>
                  </a:lnTo>
                  <a:lnTo>
                    <a:pt x="7754112" y="138811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894327" y="2035559"/>
            <a:ext cx="939803" cy="939803"/>
            <a:chOff x="0" y="0"/>
            <a:chExt cx="1253071" cy="12530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53328" y="2176272"/>
            <a:ext cx="585216" cy="585216"/>
            <a:chOff x="0" y="0"/>
            <a:chExt cx="780288" cy="780288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14032" y="2011680"/>
            <a:ext cx="4023360" cy="768096"/>
            <a:chOff x="0" y="0"/>
            <a:chExt cx="5364480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53644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Clarity on AI Fit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907024" y="3200400"/>
            <a:ext cx="5157216" cy="1609344"/>
            <a:chOff x="0" y="0"/>
            <a:chExt cx="6876288" cy="2145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762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40" r="0" b="-1244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14300"/>
              <a:ext cx="6876288" cy="2260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Teams don't know which processes are AI-ready or where to start strategically.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786235" y="1636395"/>
            <a:ext cx="5834634" cy="3457194"/>
            <a:chOff x="0" y="0"/>
            <a:chExt cx="7779512" cy="4609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2700" y="12700"/>
              <a:ext cx="7754112" cy="4584192"/>
            </a:xfrm>
            <a:custGeom>
              <a:avLst/>
              <a:gdLst/>
              <a:ahLst/>
              <a:cxnLst/>
              <a:rect r="r" b="b" t="t" l="l"/>
              <a:pathLst>
                <a:path h="4584192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779512" cy="4609592"/>
            </a:xfrm>
            <a:custGeom>
              <a:avLst/>
              <a:gdLst/>
              <a:ahLst/>
              <a:cxnLst/>
              <a:rect r="r" b="b" t="t" l="l"/>
              <a:pathLst>
                <a:path h="4609592" w="7779512">
                  <a:moveTo>
                    <a:pt x="12700" y="0"/>
                  </a:moveTo>
                  <a:lnTo>
                    <a:pt x="7766812" y="0"/>
                  </a:lnTo>
                  <a:cubicBezTo>
                    <a:pt x="7773797" y="0"/>
                    <a:pt x="7779512" y="5715"/>
                    <a:pt x="7779512" y="12700"/>
                  </a:cubicBezTo>
                  <a:lnTo>
                    <a:pt x="7779512" y="4596892"/>
                  </a:lnTo>
                  <a:cubicBezTo>
                    <a:pt x="7779512" y="4603877"/>
                    <a:pt x="7773797" y="4609592"/>
                    <a:pt x="7766812" y="4609592"/>
                  </a:cubicBezTo>
                  <a:lnTo>
                    <a:pt x="12700" y="4609592"/>
                  </a:lnTo>
                  <a:cubicBezTo>
                    <a:pt x="5715" y="4609592"/>
                    <a:pt x="0" y="4603877"/>
                    <a:pt x="0" y="459689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96892"/>
                  </a:lnTo>
                  <a:lnTo>
                    <a:pt x="12700" y="4596892"/>
                  </a:lnTo>
                  <a:lnTo>
                    <a:pt x="12700" y="4584192"/>
                  </a:lnTo>
                  <a:lnTo>
                    <a:pt x="7766812" y="4584192"/>
                  </a:lnTo>
                  <a:lnTo>
                    <a:pt x="7766812" y="4596892"/>
                  </a:lnTo>
                  <a:lnTo>
                    <a:pt x="7754112" y="4596892"/>
                  </a:lnTo>
                  <a:lnTo>
                    <a:pt x="7754112" y="12700"/>
                  </a:lnTo>
                  <a:lnTo>
                    <a:pt x="7766812" y="12700"/>
                  </a:lnTo>
                  <a:lnTo>
                    <a:pt x="776681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783063" y="1633223"/>
            <a:ext cx="5840987" cy="116843"/>
            <a:chOff x="0" y="0"/>
            <a:chExt cx="7787983" cy="15579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7754112" cy="121920"/>
            </a:xfrm>
            <a:custGeom>
              <a:avLst/>
              <a:gdLst/>
              <a:ahLst/>
              <a:cxnLst/>
              <a:rect r="r" b="b" t="t" l="l"/>
              <a:pathLst>
                <a:path h="12192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787894" cy="155704"/>
            </a:xfrm>
            <a:custGeom>
              <a:avLst/>
              <a:gdLst/>
              <a:ahLst/>
              <a:cxnLst/>
              <a:rect r="r" b="b" t="t" l="l"/>
              <a:pathLst>
                <a:path h="155704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138811"/>
                  </a:lnTo>
                  <a:cubicBezTo>
                    <a:pt x="7787894" y="148209"/>
                    <a:pt x="7780274" y="155702"/>
                    <a:pt x="7771003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771003" y="121920"/>
                  </a:lnTo>
                  <a:lnTo>
                    <a:pt x="7771003" y="138811"/>
                  </a:lnTo>
                  <a:lnTo>
                    <a:pt x="7754112" y="138811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112247" y="2035559"/>
            <a:ext cx="939803" cy="939803"/>
            <a:chOff x="0" y="0"/>
            <a:chExt cx="1253071" cy="12530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271248" y="2176272"/>
            <a:ext cx="585216" cy="585216"/>
            <a:chOff x="0" y="0"/>
            <a:chExt cx="780288" cy="780288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331952" y="2011680"/>
            <a:ext cx="4023360" cy="768096"/>
            <a:chOff x="0" y="0"/>
            <a:chExt cx="5364480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53644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Consultants Cost Weeks + $$$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124944" y="3200400"/>
            <a:ext cx="5157216" cy="1609344"/>
            <a:chOff x="0" y="0"/>
            <a:chExt cx="6876288" cy="21457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8762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40" r="0" b="-124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14300"/>
              <a:ext cx="6876288" cy="2260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assessments are slow, expensive, and often produce generic advice.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568315" y="5476875"/>
            <a:ext cx="5834634" cy="3457194"/>
            <a:chOff x="0" y="0"/>
            <a:chExt cx="7779512" cy="4609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2700" y="12700"/>
              <a:ext cx="7754112" cy="4584192"/>
            </a:xfrm>
            <a:custGeom>
              <a:avLst/>
              <a:gdLst/>
              <a:ahLst/>
              <a:cxnLst/>
              <a:rect r="r" b="b" t="t" l="l"/>
              <a:pathLst>
                <a:path h="4584192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779512" cy="4609592"/>
            </a:xfrm>
            <a:custGeom>
              <a:avLst/>
              <a:gdLst/>
              <a:ahLst/>
              <a:cxnLst/>
              <a:rect r="r" b="b" t="t" l="l"/>
              <a:pathLst>
                <a:path h="4609592" w="7779512">
                  <a:moveTo>
                    <a:pt x="12700" y="0"/>
                  </a:moveTo>
                  <a:lnTo>
                    <a:pt x="7766812" y="0"/>
                  </a:lnTo>
                  <a:cubicBezTo>
                    <a:pt x="7773797" y="0"/>
                    <a:pt x="7779512" y="5715"/>
                    <a:pt x="7779512" y="12700"/>
                  </a:cubicBezTo>
                  <a:lnTo>
                    <a:pt x="7779512" y="4596892"/>
                  </a:lnTo>
                  <a:cubicBezTo>
                    <a:pt x="7779512" y="4603877"/>
                    <a:pt x="7773797" y="4609592"/>
                    <a:pt x="7766812" y="4609592"/>
                  </a:cubicBezTo>
                  <a:lnTo>
                    <a:pt x="12700" y="4609592"/>
                  </a:lnTo>
                  <a:cubicBezTo>
                    <a:pt x="5715" y="4609592"/>
                    <a:pt x="0" y="4603877"/>
                    <a:pt x="0" y="459689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96892"/>
                  </a:lnTo>
                  <a:lnTo>
                    <a:pt x="12700" y="4596892"/>
                  </a:lnTo>
                  <a:lnTo>
                    <a:pt x="12700" y="4584192"/>
                  </a:lnTo>
                  <a:lnTo>
                    <a:pt x="7766812" y="4584192"/>
                  </a:lnTo>
                  <a:lnTo>
                    <a:pt x="7766812" y="4596892"/>
                  </a:lnTo>
                  <a:lnTo>
                    <a:pt x="7754112" y="4596892"/>
                  </a:lnTo>
                  <a:lnTo>
                    <a:pt x="7754112" y="12700"/>
                  </a:lnTo>
                  <a:lnTo>
                    <a:pt x="7766812" y="12700"/>
                  </a:lnTo>
                  <a:lnTo>
                    <a:pt x="776681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5565143" y="5473703"/>
            <a:ext cx="5840987" cy="116843"/>
            <a:chOff x="0" y="0"/>
            <a:chExt cx="7787983" cy="1557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7754112" cy="121920"/>
            </a:xfrm>
            <a:custGeom>
              <a:avLst/>
              <a:gdLst/>
              <a:ahLst/>
              <a:cxnLst/>
              <a:rect r="r" b="b" t="t" l="l"/>
              <a:pathLst>
                <a:path h="12192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787894" cy="155704"/>
            </a:xfrm>
            <a:custGeom>
              <a:avLst/>
              <a:gdLst/>
              <a:ahLst/>
              <a:cxnLst/>
              <a:rect r="r" b="b" t="t" l="l"/>
              <a:pathLst>
                <a:path h="155704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138811"/>
                  </a:lnTo>
                  <a:cubicBezTo>
                    <a:pt x="7787894" y="148209"/>
                    <a:pt x="7780274" y="155702"/>
                    <a:pt x="7771003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771003" y="121920"/>
                  </a:lnTo>
                  <a:lnTo>
                    <a:pt x="7771003" y="138811"/>
                  </a:lnTo>
                  <a:lnTo>
                    <a:pt x="7754112" y="138811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5894327" y="5876039"/>
            <a:ext cx="939803" cy="939803"/>
            <a:chOff x="0" y="0"/>
            <a:chExt cx="1253071" cy="12530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6053328" y="6016752"/>
            <a:ext cx="585216" cy="585216"/>
            <a:chOff x="0" y="0"/>
            <a:chExt cx="780288" cy="780288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114032" y="5852160"/>
            <a:ext cx="4023360" cy="768096"/>
            <a:chOff x="0" y="0"/>
            <a:chExt cx="5364480" cy="10241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53644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Generic Recommendations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907024" y="7040880"/>
            <a:ext cx="5157216" cy="1609344"/>
            <a:chOff x="0" y="0"/>
            <a:chExt cx="6876288" cy="21457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762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40" r="0" b="-1244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14300"/>
              <a:ext cx="6876288" cy="2260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One-size-fits-all roadmaps miss real organisational complexity and constraints.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786235" y="5476875"/>
            <a:ext cx="5834634" cy="3457194"/>
            <a:chOff x="0" y="0"/>
            <a:chExt cx="7779512" cy="4609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7754112" cy="4584192"/>
            </a:xfrm>
            <a:custGeom>
              <a:avLst/>
              <a:gdLst/>
              <a:ahLst/>
              <a:cxnLst/>
              <a:rect r="r" b="b" t="t" l="l"/>
              <a:pathLst>
                <a:path h="4584192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4584192"/>
                  </a:lnTo>
                  <a:lnTo>
                    <a:pt x="0" y="458419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779512" cy="4609592"/>
            </a:xfrm>
            <a:custGeom>
              <a:avLst/>
              <a:gdLst/>
              <a:ahLst/>
              <a:cxnLst/>
              <a:rect r="r" b="b" t="t" l="l"/>
              <a:pathLst>
                <a:path h="4609592" w="7779512">
                  <a:moveTo>
                    <a:pt x="12700" y="0"/>
                  </a:moveTo>
                  <a:lnTo>
                    <a:pt x="7766812" y="0"/>
                  </a:lnTo>
                  <a:cubicBezTo>
                    <a:pt x="7773797" y="0"/>
                    <a:pt x="7779512" y="5715"/>
                    <a:pt x="7779512" y="12700"/>
                  </a:cubicBezTo>
                  <a:lnTo>
                    <a:pt x="7779512" y="4596892"/>
                  </a:lnTo>
                  <a:cubicBezTo>
                    <a:pt x="7779512" y="4603877"/>
                    <a:pt x="7773797" y="4609592"/>
                    <a:pt x="7766812" y="4609592"/>
                  </a:cubicBezTo>
                  <a:lnTo>
                    <a:pt x="12700" y="4609592"/>
                  </a:lnTo>
                  <a:cubicBezTo>
                    <a:pt x="5715" y="4609592"/>
                    <a:pt x="0" y="4603877"/>
                    <a:pt x="0" y="459689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96892"/>
                  </a:lnTo>
                  <a:lnTo>
                    <a:pt x="12700" y="4596892"/>
                  </a:lnTo>
                  <a:lnTo>
                    <a:pt x="12700" y="4584192"/>
                  </a:lnTo>
                  <a:lnTo>
                    <a:pt x="7766812" y="4584192"/>
                  </a:lnTo>
                  <a:lnTo>
                    <a:pt x="7766812" y="4596892"/>
                  </a:lnTo>
                  <a:lnTo>
                    <a:pt x="7754112" y="4596892"/>
                  </a:lnTo>
                  <a:lnTo>
                    <a:pt x="7754112" y="12700"/>
                  </a:lnTo>
                  <a:lnTo>
                    <a:pt x="7766812" y="12700"/>
                  </a:lnTo>
                  <a:lnTo>
                    <a:pt x="776681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783063" y="5473703"/>
            <a:ext cx="5840987" cy="116843"/>
            <a:chOff x="0" y="0"/>
            <a:chExt cx="7787983" cy="1557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754112" cy="121920"/>
            </a:xfrm>
            <a:custGeom>
              <a:avLst/>
              <a:gdLst/>
              <a:ahLst/>
              <a:cxnLst/>
              <a:rect r="r" b="b" t="t" l="l"/>
              <a:pathLst>
                <a:path h="12192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787894" cy="155704"/>
            </a:xfrm>
            <a:custGeom>
              <a:avLst/>
              <a:gdLst/>
              <a:ahLst/>
              <a:cxnLst/>
              <a:rect r="r" b="b" t="t" l="l"/>
              <a:pathLst>
                <a:path h="155704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138811"/>
                  </a:lnTo>
                  <a:cubicBezTo>
                    <a:pt x="7787894" y="148209"/>
                    <a:pt x="7780274" y="155702"/>
                    <a:pt x="7771003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771003" y="121920"/>
                  </a:lnTo>
                  <a:lnTo>
                    <a:pt x="7771003" y="138811"/>
                  </a:lnTo>
                  <a:lnTo>
                    <a:pt x="7754112" y="138811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112247" y="5876039"/>
            <a:ext cx="939803" cy="939803"/>
            <a:chOff x="0" y="0"/>
            <a:chExt cx="1253071" cy="125307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271248" y="6016752"/>
            <a:ext cx="585216" cy="585216"/>
            <a:chOff x="0" y="0"/>
            <a:chExt cx="780288" cy="780288"/>
          </a:xfrm>
        </p:grpSpPr>
        <p:sp>
          <p:nvSpPr>
            <p:cNvPr name="Freeform 96" id="96" descr="preencoded.png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331952" y="5852160"/>
            <a:ext cx="4023360" cy="768096"/>
            <a:chOff x="0" y="0"/>
            <a:chExt cx="5364480" cy="102412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64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64" r="0" b="-5206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53644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 Blind Spots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2124944" y="7040880"/>
            <a:ext cx="5157216" cy="1609344"/>
            <a:chOff x="0" y="0"/>
            <a:chExt cx="6876288" cy="214579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876288" cy="2145792"/>
            </a:xfrm>
            <a:custGeom>
              <a:avLst/>
              <a:gdLst/>
              <a:ahLst/>
              <a:cxnLst/>
              <a:rect r="r" b="b" t="t" l="l"/>
              <a:pathLst>
                <a:path h="2145792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40" r="0" b="-1244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14300"/>
              <a:ext cx="6876288" cy="2260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solutions proposed without considering existing infrastructure and integrations.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12</a:t>
              </a:r>
            </a:p>
          </p:txBody>
        </p:sp>
      </p:grpSp>
      <p:sp>
        <p:nvSpPr>
          <p:cNvPr name="Freeform 115" id="11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SOLUTION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One Form. One Pipeline. One Report. One Chat.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31520" y="1499616"/>
            <a:ext cx="16824960" cy="640080"/>
            <a:chOff x="0" y="0"/>
            <a:chExt cx="2243328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 a chatbot. Not a copilot. A Decision Intelligence System with an intelligent post-report assistant built in.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2539" y="2276475"/>
            <a:ext cx="4042410" cy="7242810"/>
            <a:chOff x="0" y="0"/>
            <a:chExt cx="5389880" cy="9657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5364480" cy="9631680"/>
            </a:xfrm>
            <a:custGeom>
              <a:avLst/>
              <a:gdLst/>
              <a:ahLst/>
              <a:cxnLst/>
              <a:rect r="r" b="b" t="t" l="l"/>
              <a:pathLst>
                <a:path h="9631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631680"/>
                  </a:lnTo>
                  <a:lnTo>
                    <a:pt x="0" y="963168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89880" cy="9657080"/>
            </a:xfrm>
            <a:custGeom>
              <a:avLst/>
              <a:gdLst/>
              <a:ahLst/>
              <a:cxnLst/>
              <a:rect r="r" b="b" t="t" l="l"/>
              <a:pathLst>
                <a:path h="965708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9644380"/>
                  </a:lnTo>
                  <a:cubicBezTo>
                    <a:pt x="5389880" y="9651365"/>
                    <a:pt x="5384165" y="9657080"/>
                    <a:pt x="5377180" y="9657080"/>
                  </a:cubicBezTo>
                  <a:lnTo>
                    <a:pt x="12700" y="9657080"/>
                  </a:lnTo>
                  <a:cubicBezTo>
                    <a:pt x="5715" y="9657080"/>
                    <a:pt x="0" y="9651365"/>
                    <a:pt x="0" y="964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44380"/>
                  </a:lnTo>
                  <a:lnTo>
                    <a:pt x="12700" y="9644380"/>
                  </a:lnTo>
                  <a:lnTo>
                    <a:pt x="12700" y="9631680"/>
                  </a:lnTo>
                  <a:lnTo>
                    <a:pt x="5377180" y="9631680"/>
                  </a:lnTo>
                  <a:lnTo>
                    <a:pt x="5377180" y="9644380"/>
                  </a:lnTo>
                  <a:lnTo>
                    <a:pt x="5364480" y="964438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99367" y="2273303"/>
            <a:ext cx="4048763" cy="1159259"/>
            <a:chOff x="0" y="0"/>
            <a:chExt cx="5398351" cy="15456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53644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9826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528699"/>
                  </a:lnTo>
                  <a:cubicBezTo>
                    <a:pt x="5398262" y="1538097"/>
                    <a:pt x="5390642" y="1545590"/>
                    <a:pt x="53813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381371" y="1511808"/>
                  </a:lnTo>
                  <a:lnTo>
                    <a:pt x="5381371" y="1528699"/>
                  </a:lnTo>
                  <a:lnTo>
                    <a:pt x="5364480" y="15286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31520" y="2340864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694176" y="2432304"/>
            <a:ext cx="658368" cy="658368"/>
            <a:chOff x="0" y="0"/>
            <a:chExt cx="877824" cy="877824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8096" y="3657600"/>
            <a:ext cx="3566160" cy="694944"/>
            <a:chOff x="0" y="0"/>
            <a:chExt cx="475488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754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Fill the Form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8551" y="4705607"/>
            <a:ext cx="189995" cy="189995"/>
            <a:chOff x="0" y="0"/>
            <a:chExt cx="253327" cy="25332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70432" y="4535424"/>
            <a:ext cx="3145536" cy="694944"/>
            <a:chOff x="0" y="0"/>
            <a:chExt cx="4194048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Company &amp; industry info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8551" y="5546855"/>
            <a:ext cx="189995" cy="189995"/>
            <a:chOff x="0" y="0"/>
            <a:chExt cx="253327" cy="25332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0432" y="5376672"/>
            <a:ext cx="3145536" cy="694944"/>
            <a:chOff x="0" y="0"/>
            <a:chExt cx="4194048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Process descriptions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8551" y="6388103"/>
            <a:ext cx="189995" cy="189995"/>
            <a:chOff x="0" y="0"/>
            <a:chExt cx="253327" cy="25332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70432" y="6217920"/>
            <a:ext cx="3145536" cy="694944"/>
            <a:chOff x="0" y="0"/>
            <a:chExt cx="4194048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Pain points &amp; data types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8551" y="7229351"/>
            <a:ext cx="189995" cy="189995"/>
            <a:chOff x="0" y="0"/>
            <a:chExt cx="253327" cy="25332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70432" y="7059168"/>
            <a:ext cx="3145536" cy="694944"/>
            <a:chOff x="0" y="0"/>
            <a:chExt cx="4194048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stack &amp; constraints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572000" y="5212080"/>
            <a:ext cx="402336" cy="402336"/>
            <a:chOff x="0" y="0"/>
            <a:chExt cx="536448" cy="536448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4855083" y="2276475"/>
            <a:ext cx="4042410" cy="7242810"/>
            <a:chOff x="0" y="0"/>
            <a:chExt cx="5389880" cy="9657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2700" y="12700"/>
              <a:ext cx="5364480" cy="9631680"/>
            </a:xfrm>
            <a:custGeom>
              <a:avLst/>
              <a:gdLst/>
              <a:ahLst/>
              <a:cxnLst/>
              <a:rect r="r" b="b" t="t" l="l"/>
              <a:pathLst>
                <a:path h="9631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631680"/>
                  </a:lnTo>
                  <a:lnTo>
                    <a:pt x="0" y="963168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89880" cy="9657080"/>
            </a:xfrm>
            <a:custGeom>
              <a:avLst/>
              <a:gdLst/>
              <a:ahLst/>
              <a:cxnLst/>
              <a:rect r="r" b="b" t="t" l="l"/>
              <a:pathLst>
                <a:path h="965708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9644380"/>
                  </a:lnTo>
                  <a:cubicBezTo>
                    <a:pt x="5389880" y="9651365"/>
                    <a:pt x="5384165" y="9657080"/>
                    <a:pt x="5377180" y="9657080"/>
                  </a:cubicBezTo>
                  <a:lnTo>
                    <a:pt x="12700" y="9657080"/>
                  </a:lnTo>
                  <a:cubicBezTo>
                    <a:pt x="5715" y="9657080"/>
                    <a:pt x="0" y="9651365"/>
                    <a:pt x="0" y="964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44380"/>
                  </a:lnTo>
                  <a:lnTo>
                    <a:pt x="12700" y="9644380"/>
                  </a:lnTo>
                  <a:lnTo>
                    <a:pt x="12700" y="9631680"/>
                  </a:lnTo>
                  <a:lnTo>
                    <a:pt x="5377180" y="9631680"/>
                  </a:lnTo>
                  <a:lnTo>
                    <a:pt x="5377180" y="9644380"/>
                  </a:lnTo>
                  <a:lnTo>
                    <a:pt x="5364480" y="964438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851911" y="2273303"/>
            <a:ext cx="4048763" cy="1159259"/>
            <a:chOff x="0" y="0"/>
            <a:chExt cx="5398351" cy="154567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53644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9826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528699"/>
                  </a:lnTo>
                  <a:cubicBezTo>
                    <a:pt x="5398262" y="1538097"/>
                    <a:pt x="5390642" y="1545590"/>
                    <a:pt x="53813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381371" y="1511808"/>
                  </a:lnTo>
                  <a:lnTo>
                    <a:pt x="5381371" y="1528699"/>
                  </a:lnTo>
                  <a:lnTo>
                    <a:pt x="5364480" y="15286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5084064" y="2340864"/>
            <a:ext cx="914400" cy="914400"/>
            <a:chOff x="0" y="0"/>
            <a:chExt cx="1219200" cy="1219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046720" y="2432304"/>
            <a:ext cx="658368" cy="658368"/>
            <a:chOff x="0" y="0"/>
            <a:chExt cx="877824" cy="877824"/>
          </a:xfrm>
        </p:grpSpPr>
        <p:sp>
          <p:nvSpPr>
            <p:cNvPr name="Freeform 74" id="7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5120640" y="3657600"/>
            <a:ext cx="3566160" cy="694944"/>
            <a:chOff x="0" y="0"/>
            <a:chExt cx="4754880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4754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 Runs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181095" y="4705607"/>
            <a:ext cx="189995" cy="189995"/>
            <a:chOff x="0" y="0"/>
            <a:chExt cx="253327" cy="25332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522976" y="4535424"/>
            <a:ext cx="3145536" cy="694944"/>
            <a:chOff x="0" y="0"/>
            <a:chExt cx="4194048" cy="9265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analyzes patterns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181095" y="5546855"/>
            <a:ext cx="189995" cy="189995"/>
            <a:chOff x="0" y="0"/>
            <a:chExt cx="253327" cy="25332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5522976" y="5376672"/>
            <a:ext cx="3145536" cy="694944"/>
            <a:chOff x="0" y="0"/>
            <a:chExt cx="4194048" cy="9265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Titan validates use cases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5181095" y="6388103"/>
            <a:ext cx="189995" cy="189995"/>
            <a:chOff x="0" y="0"/>
            <a:chExt cx="253327" cy="25332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5522976" y="6217920"/>
            <a:ext cx="3145536" cy="694944"/>
            <a:chOff x="0" y="0"/>
            <a:chExt cx="4194048" cy="92659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scores complexity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5181095" y="7229351"/>
            <a:ext cx="189995" cy="189995"/>
            <a:chOff x="0" y="0"/>
            <a:chExt cx="253327" cy="25332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522976" y="7059168"/>
            <a:ext cx="3145536" cy="694944"/>
            <a:chOff x="0" y="0"/>
            <a:chExt cx="4194048" cy="9265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generates report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924544" y="5212080"/>
            <a:ext cx="402336" cy="402336"/>
            <a:chOff x="0" y="0"/>
            <a:chExt cx="536448" cy="536448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207627" y="2276475"/>
            <a:ext cx="4042410" cy="7242810"/>
            <a:chOff x="0" y="0"/>
            <a:chExt cx="5389880" cy="96570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2700" y="12700"/>
              <a:ext cx="5364480" cy="9631680"/>
            </a:xfrm>
            <a:custGeom>
              <a:avLst/>
              <a:gdLst/>
              <a:ahLst/>
              <a:cxnLst/>
              <a:rect r="r" b="b" t="t" l="l"/>
              <a:pathLst>
                <a:path h="9631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631680"/>
                  </a:lnTo>
                  <a:lnTo>
                    <a:pt x="0" y="963168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389880" cy="9657080"/>
            </a:xfrm>
            <a:custGeom>
              <a:avLst/>
              <a:gdLst/>
              <a:ahLst/>
              <a:cxnLst/>
              <a:rect r="r" b="b" t="t" l="l"/>
              <a:pathLst>
                <a:path h="965708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9644380"/>
                  </a:lnTo>
                  <a:cubicBezTo>
                    <a:pt x="5389880" y="9651365"/>
                    <a:pt x="5384165" y="9657080"/>
                    <a:pt x="5377180" y="9657080"/>
                  </a:cubicBezTo>
                  <a:lnTo>
                    <a:pt x="12700" y="9657080"/>
                  </a:lnTo>
                  <a:cubicBezTo>
                    <a:pt x="5715" y="9657080"/>
                    <a:pt x="0" y="9651365"/>
                    <a:pt x="0" y="964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44380"/>
                  </a:lnTo>
                  <a:lnTo>
                    <a:pt x="12700" y="9644380"/>
                  </a:lnTo>
                  <a:lnTo>
                    <a:pt x="12700" y="9631680"/>
                  </a:lnTo>
                  <a:lnTo>
                    <a:pt x="5377180" y="9631680"/>
                  </a:lnTo>
                  <a:lnTo>
                    <a:pt x="5377180" y="9644380"/>
                  </a:lnTo>
                  <a:lnTo>
                    <a:pt x="5364480" y="964438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204455" y="2273303"/>
            <a:ext cx="4048763" cy="1159259"/>
            <a:chOff x="0" y="0"/>
            <a:chExt cx="5398351" cy="154567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53644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39826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528699"/>
                  </a:lnTo>
                  <a:cubicBezTo>
                    <a:pt x="5398262" y="1538097"/>
                    <a:pt x="5390642" y="1545590"/>
                    <a:pt x="53813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381371" y="1511808"/>
                  </a:lnTo>
                  <a:lnTo>
                    <a:pt x="5381371" y="1528699"/>
                  </a:lnTo>
                  <a:lnTo>
                    <a:pt x="5364480" y="15286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36608" y="2340864"/>
            <a:ext cx="914400" cy="914400"/>
            <a:chOff x="0" y="0"/>
            <a:chExt cx="1219200" cy="1219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399264" y="2432304"/>
            <a:ext cx="658368" cy="658368"/>
            <a:chOff x="0" y="0"/>
            <a:chExt cx="877824" cy="877824"/>
          </a:xfrm>
        </p:grpSpPr>
        <p:sp>
          <p:nvSpPr>
            <p:cNvPr name="Freeform 114" id="11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9473184" y="3657600"/>
            <a:ext cx="3566160" cy="694944"/>
            <a:chOff x="0" y="0"/>
            <a:chExt cx="4754880" cy="9265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4754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Delivered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533639" y="4705607"/>
            <a:ext cx="189995" cy="189995"/>
            <a:chOff x="0" y="0"/>
            <a:chExt cx="253327" cy="253327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875520" y="4535424"/>
            <a:ext cx="3145536" cy="694944"/>
            <a:chOff x="0" y="0"/>
            <a:chExt cx="4194048" cy="92659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Opportunity List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533639" y="5546855"/>
            <a:ext cx="189995" cy="189995"/>
            <a:chOff x="0" y="0"/>
            <a:chExt cx="253327" cy="25332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875520" y="5376672"/>
            <a:ext cx="3145536" cy="694944"/>
            <a:chOff x="0" y="0"/>
            <a:chExt cx="4194048" cy="92659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 / Complexity Matrix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533639" y="6388103"/>
            <a:ext cx="189995" cy="189995"/>
            <a:chOff x="0" y="0"/>
            <a:chExt cx="253327" cy="253327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875520" y="6217920"/>
            <a:ext cx="3145536" cy="694944"/>
            <a:chOff x="0" y="0"/>
            <a:chExt cx="4194048" cy="9265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Phased Implementation Roadmap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533639" y="7229351"/>
            <a:ext cx="189995" cy="189995"/>
            <a:chOff x="0" y="0"/>
            <a:chExt cx="253327" cy="253327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875520" y="7059168"/>
            <a:ext cx="3145536" cy="694944"/>
            <a:chOff x="0" y="0"/>
            <a:chExt cx="4194048" cy="92659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Executive Summary + PDF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3277088" y="5212080"/>
            <a:ext cx="402336" cy="402336"/>
            <a:chOff x="0" y="0"/>
            <a:chExt cx="536448" cy="536448"/>
          </a:xfrm>
        </p:grpSpPr>
        <p:sp>
          <p:nvSpPr>
            <p:cNvPr name="Freeform 143" id="14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3560171" y="2276475"/>
            <a:ext cx="4042410" cy="7242810"/>
            <a:chOff x="0" y="0"/>
            <a:chExt cx="5389880" cy="96570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12700" y="12700"/>
              <a:ext cx="5364480" cy="9631680"/>
            </a:xfrm>
            <a:custGeom>
              <a:avLst/>
              <a:gdLst/>
              <a:ahLst/>
              <a:cxnLst/>
              <a:rect r="r" b="b" t="t" l="l"/>
              <a:pathLst>
                <a:path h="96316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631680"/>
                  </a:lnTo>
                  <a:lnTo>
                    <a:pt x="0" y="963168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389880" cy="9657080"/>
            </a:xfrm>
            <a:custGeom>
              <a:avLst/>
              <a:gdLst/>
              <a:ahLst/>
              <a:cxnLst/>
              <a:rect r="r" b="b" t="t" l="l"/>
              <a:pathLst>
                <a:path h="9657080" w="5389880">
                  <a:moveTo>
                    <a:pt x="12700" y="0"/>
                  </a:moveTo>
                  <a:lnTo>
                    <a:pt x="5377180" y="0"/>
                  </a:lnTo>
                  <a:cubicBezTo>
                    <a:pt x="5384165" y="0"/>
                    <a:pt x="5389880" y="5715"/>
                    <a:pt x="5389880" y="12700"/>
                  </a:cubicBezTo>
                  <a:lnTo>
                    <a:pt x="5389880" y="9644380"/>
                  </a:lnTo>
                  <a:cubicBezTo>
                    <a:pt x="5389880" y="9651365"/>
                    <a:pt x="5384165" y="9657080"/>
                    <a:pt x="5377180" y="9657080"/>
                  </a:cubicBezTo>
                  <a:lnTo>
                    <a:pt x="12700" y="9657080"/>
                  </a:lnTo>
                  <a:cubicBezTo>
                    <a:pt x="5715" y="9657080"/>
                    <a:pt x="0" y="9651365"/>
                    <a:pt x="0" y="964438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644380"/>
                  </a:lnTo>
                  <a:lnTo>
                    <a:pt x="12700" y="9644380"/>
                  </a:lnTo>
                  <a:lnTo>
                    <a:pt x="12700" y="9631680"/>
                  </a:lnTo>
                  <a:lnTo>
                    <a:pt x="5377180" y="9631680"/>
                  </a:lnTo>
                  <a:lnTo>
                    <a:pt x="5377180" y="9644380"/>
                  </a:lnTo>
                  <a:lnTo>
                    <a:pt x="5364480" y="9644380"/>
                  </a:lnTo>
                  <a:lnTo>
                    <a:pt x="5364480" y="12700"/>
                  </a:lnTo>
                  <a:lnTo>
                    <a:pt x="5377180" y="12700"/>
                  </a:lnTo>
                  <a:lnTo>
                    <a:pt x="53771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3556999" y="2273303"/>
            <a:ext cx="4048763" cy="1159259"/>
            <a:chOff x="0" y="0"/>
            <a:chExt cx="5398351" cy="1545679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16891" y="16891"/>
              <a:ext cx="53644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398262" cy="1545590"/>
            </a:xfrm>
            <a:custGeom>
              <a:avLst/>
              <a:gdLst/>
              <a:ahLst/>
              <a:cxnLst/>
              <a:rect r="r" b="b" t="t" l="l"/>
              <a:pathLst>
                <a:path h="1545590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528699"/>
                  </a:lnTo>
                  <a:cubicBezTo>
                    <a:pt x="5398262" y="1538097"/>
                    <a:pt x="5390642" y="1545590"/>
                    <a:pt x="53813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5381371" y="1511808"/>
                  </a:lnTo>
                  <a:lnTo>
                    <a:pt x="5381371" y="1528699"/>
                  </a:lnTo>
                  <a:lnTo>
                    <a:pt x="5364480" y="15286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3789152" y="2340864"/>
            <a:ext cx="914400" cy="914400"/>
            <a:chOff x="0" y="0"/>
            <a:chExt cx="1219200" cy="12192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76200"/>
              <a:ext cx="1219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6751808" y="2432304"/>
            <a:ext cx="658368" cy="658368"/>
            <a:chOff x="0" y="0"/>
            <a:chExt cx="877824" cy="877824"/>
          </a:xfrm>
        </p:grpSpPr>
        <p:sp>
          <p:nvSpPr>
            <p:cNvPr name="Freeform 154" id="154" descr="preencoded.png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25728" y="3657600"/>
            <a:ext cx="3566160" cy="694944"/>
            <a:chOff x="0" y="0"/>
            <a:chExt cx="4754880" cy="92659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754880" cy="926592"/>
            </a:xfrm>
            <a:custGeom>
              <a:avLst/>
              <a:gdLst/>
              <a:ahLst/>
              <a:cxnLst/>
              <a:rect r="r" b="b" t="t" l="l"/>
              <a:pathLst>
                <a:path h="92659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89" r="0" b="-49989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75488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 with Report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886183" y="4705607"/>
            <a:ext cx="189995" cy="189995"/>
            <a:chOff x="0" y="0"/>
            <a:chExt cx="253327" cy="253327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14228064" y="4535424"/>
            <a:ext cx="3145536" cy="694944"/>
            <a:chOff x="0" y="0"/>
            <a:chExt cx="4194048" cy="92659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 questions about results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3886183" y="5546855"/>
            <a:ext cx="189995" cy="189995"/>
            <a:chOff x="0" y="0"/>
            <a:chExt cx="253327" cy="253327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4228064" y="5376672"/>
            <a:ext cx="3145536" cy="694944"/>
            <a:chOff x="0" y="0"/>
            <a:chExt cx="4194048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reads full report JSON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3886183" y="6388103"/>
            <a:ext cx="189995" cy="189995"/>
            <a:chOff x="0" y="0"/>
            <a:chExt cx="253327" cy="253327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4228064" y="6217920"/>
            <a:ext cx="3145536" cy="694944"/>
            <a:chOff x="0" y="0"/>
            <a:chExt cx="4194048" cy="92659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Multi-turn conversation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3886183" y="7229351"/>
            <a:ext cx="189995" cy="189995"/>
            <a:chOff x="0" y="0"/>
            <a:chExt cx="253327" cy="253327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596" y="0"/>
                    <a:pt x="253238" y="56769"/>
                    <a:pt x="253238" y="126619"/>
                  </a:cubicBezTo>
                  <a:lnTo>
                    <a:pt x="236347" y="126619"/>
                  </a:lnTo>
                  <a:lnTo>
                    <a:pt x="253238" y="126619"/>
                  </a:lnTo>
                  <a:cubicBezTo>
                    <a:pt x="253238" y="196596"/>
                    <a:pt x="196469" y="253238"/>
                    <a:pt x="126619" y="253238"/>
                  </a:cubicBezTo>
                  <a:lnTo>
                    <a:pt x="126619" y="236347"/>
                  </a:lnTo>
                  <a:lnTo>
                    <a:pt x="126619" y="253238"/>
                  </a:lnTo>
                  <a:cubicBezTo>
                    <a:pt x="56769" y="253365"/>
                    <a:pt x="0" y="196596"/>
                    <a:pt x="0" y="126619"/>
                  </a:cubicBezTo>
                  <a:lnTo>
                    <a:pt x="16891" y="126619"/>
                  </a:lnTo>
                  <a:lnTo>
                    <a:pt x="33909" y="126619"/>
                  </a:lnTo>
                  <a:lnTo>
                    <a:pt x="16891" y="126619"/>
                  </a:lnTo>
                  <a:lnTo>
                    <a:pt x="0" y="126619"/>
                  </a:lnTo>
                  <a:moveTo>
                    <a:pt x="33909" y="126619"/>
                  </a:moveTo>
                  <a:cubicBezTo>
                    <a:pt x="33909" y="136017"/>
                    <a:pt x="26289" y="143510"/>
                    <a:pt x="17018" y="143510"/>
                  </a:cubicBezTo>
                  <a:cubicBezTo>
                    <a:pt x="7747" y="143510"/>
                    <a:pt x="0" y="136017"/>
                    <a:pt x="0" y="126619"/>
                  </a:cubicBezTo>
                  <a:cubicBezTo>
                    <a:pt x="0" y="117221"/>
                    <a:pt x="7620" y="109728"/>
                    <a:pt x="16891" y="109728"/>
                  </a:cubicBezTo>
                  <a:cubicBezTo>
                    <a:pt x="26162" y="109728"/>
                    <a:pt x="33782" y="117348"/>
                    <a:pt x="33782" y="126619"/>
                  </a:cubicBezTo>
                  <a:cubicBezTo>
                    <a:pt x="33782" y="177927"/>
                    <a:pt x="75311" y="219456"/>
                    <a:pt x="126619" y="219456"/>
                  </a:cubicBezTo>
                  <a:cubicBezTo>
                    <a:pt x="177927" y="219456"/>
                    <a:pt x="219456" y="177927"/>
                    <a:pt x="219456" y="126619"/>
                  </a:cubicBezTo>
                  <a:cubicBezTo>
                    <a:pt x="219456" y="75311"/>
                    <a:pt x="177927" y="33782"/>
                    <a:pt x="126619" y="33782"/>
                  </a:cubicBezTo>
                  <a:lnTo>
                    <a:pt x="126619" y="16891"/>
                  </a:lnTo>
                  <a:lnTo>
                    <a:pt x="126619" y="33909"/>
                  </a:lnTo>
                  <a:cubicBezTo>
                    <a:pt x="75311" y="33909"/>
                    <a:pt x="33782" y="75438"/>
                    <a:pt x="33782" y="126746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4228064" y="7059168"/>
            <a:ext cx="3145536" cy="694944"/>
            <a:chOff x="0" y="0"/>
            <a:chExt cx="4194048" cy="92659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4194048" cy="926592"/>
            </a:xfrm>
            <a:custGeom>
              <a:avLst/>
              <a:gdLst/>
              <a:ahLst/>
              <a:cxnLst/>
              <a:rect r="r" b="b" t="t" l="l"/>
              <a:pathLst>
                <a:path h="92659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195" r="0" b="-38195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4194048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Grounded in YOUR data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505711" y="9320527"/>
            <a:ext cx="17276569" cy="415033"/>
            <a:chOff x="0" y="0"/>
            <a:chExt cx="23035425" cy="553377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8509" y="8509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3035515" cy="553466"/>
            </a:xfrm>
            <a:custGeom>
              <a:avLst/>
              <a:gdLst/>
              <a:ahLst/>
              <a:cxnLst/>
              <a:rect r="r" b="b" t="t" l="l"/>
              <a:pathLst>
                <a:path h="553466" w="23035515">
                  <a:moveTo>
                    <a:pt x="8509" y="0"/>
                  </a:moveTo>
                  <a:lnTo>
                    <a:pt x="23027005" y="0"/>
                  </a:lnTo>
                  <a:cubicBezTo>
                    <a:pt x="23031704" y="0"/>
                    <a:pt x="23035515" y="3810"/>
                    <a:pt x="23035515" y="8509"/>
                  </a:cubicBezTo>
                  <a:lnTo>
                    <a:pt x="23035515" y="544957"/>
                  </a:lnTo>
                  <a:cubicBezTo>
                    <a:pt x="23035515" y="549656"/>
                    <a:pt x="23031704" y="553466"/>
                    <a:pt x="23027005" y="553466"/>
                  </a:cubicBezTo>
                  <a:lnTo>
                    <a:pt x="8509" y="553466"/>
                  </a:lnTo>
                  <a:cubicBezTo>
                    <a:pt x="3810" y="553466"/>
                    <a:pt x="0" y="549656"/>
                    <a:pt x="0" y="5449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4957"/>
                  </a:lnTo>
                  <a:lnTo>
                    <a:pt x="8509" y="544957"/>
                  </a:lnTo>
                  <a:lnTo>
                    <a:pt x="8509" y="536448"/>
                  </a:lnTo>
                  <a:lnTo>
                    <a:pt x="23027005" y="536448"/>
                  </a:lnTo>
                  <a:lnTo>
                    <a:pt x="23027005" y="544957"/>
                  </a:lnTo>
                  <a:lnTo>
                    <a:pt x="23018496" y="544957"/>
                  </a:lnTo>
                  <a:lnTo>
                    <a:pt x="23018496" y="8509"/>
                  </a:lnTo>
                  <a:lnTo>
                    <a:pt x="23027005" y="8509"/>
                  </a:lnTo>
                  <a:lnTo>
                    <a:pt x="2302700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12064" y="9326880"/>
            <a:ext cx="17263872" cy="402336"/>
            <a:chOff x="0" y="0"/>
            <a:chExt cx="23018496" cy="53644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85" r="0" b="-786085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28575"/>
              <a:ext cx="23018496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  ·  Amazon Titan Embeddings  ·  AWS Bedrock  ·  FastAPI  ·  React  ·  SQLite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INPUTS &amp; OUTPUTS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goes in — what comes out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1995" y="1526667"/>
            <a:ext cx="7663434" cy="677418"/>
            <a:chOff x="0" y="0"/>
            <a:chExt cx="10217912" cy="9032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10192512" cy="877824"/>
            </a:xfrm>
            <a:custGeom>
              <a:avLst/>
              <a:gdLst/>
              <a:ahLst/>
              <a:cxnLst/>
              <a:rect r="r" b="b" t="t" l="l"/>
              <a:pathLst>
                <a:path h="877824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17912" cy="903224"/>
            </a:xfrm>
            <a:custGeom>
              <a:avLst/>
              <a:gdLst/>
              <a:ahLst/>
              <a:cxnLst/>
              <a:rect r="r" b="b" t="t" l="l"/>
              <a:pathLst>
                <a:path h="903224" w="10217912">
                  <a:moveTo>
                    <a:pt x="12700" y="0"/>
                  </a:moveTo>
                  <a:lnTo>
                    <a:pt x="10205212" y="0"/>
                  </a:lnTo>
                  <a:cubicBezTo>
                    <a:pt x="10212197" y="0"/>
                    <a:pt x="10217912" y="5715"/>
                    <a:pt x="10217912" y="12700"/>
                  </a:cubicBezTo>
                  <a:lnTo>
                    <a:pt x="10217912" y="890524"/>
                  </a:lnTo>
                  <a:cubicBezTo>
                    <a:pt x="10217912" y="897509"/>
                    <a:pt x="10212197" y="903224"/>
                    <a:pt x="10205212" y="903224"/>
                  </a:cubicBezTo>
                  <a:lnTo>
                    <a:pt x="12700" y="903224"/>
                  </a:lnTo>
                  <a:cubicBezTo>
                    <a:pt x="5715" y="903224"/>
                    <a:pt x="0" y="897509"/>
                    <a:pt x="0" y="89052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90524"/>
                  </a:lnTo>
                  <a:lnTo>
                    <a:pt x="12700" y="890524"/>
                  </a:lnTo>
                  <a:lnTo>
                    <a:pt x="12700" y="877824"/>
                  </a:lnTo>
                  <a:lnTo>
                    <a:pt x="10205212" y="877824"/>
                  </a:lnTo>
                  <a:lnTo>
                    <a:pt x="10205212" y="890524"/>
                  </a:lnTo>
                  <a:lnTo>
                    <a:pt x="10192512" y="890524"/>
                  </a:lnTo>
                  <a:lnTo>
                    <a:pt x="10192512" y="12700"/>
                  </a:lnTo>
                  <a:lnTo>
                    <a:pt x="10205212" y="12700"/>
                  </a:lnTo>
                  <a:lnTo>
                    <a:pt x="1020521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31520" y="1536192"/>
            <a:ext cx="7644384" cy="658368"/>
            <a:chOff x="0" y="0"/>
            <a:chExt cx="10192512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92512" cy="877824"/>
            </a:xfrm>
            <a:custGeom>
              <a:avLst/>
              <a:gdLst/>
              <a:ahLst/>
              <a:cxnLst/>
              <a:rect r="r" b="b" t="t" l="l"/>
              <a:pathLst>
                <a:path h="877824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242" r="0" b="-17624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92512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USERS PROVIDE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02571" y="1526667"/>
            <a:ext cx="7663434" cy="677418"/>
            <a:chOff x="0" y="0"/>
            <a:chExt cx="10217912" cy="9032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0192512" cy="877824"/>
            </a:xfrm>
            <a:custGeom>
              <a:avLst/>
              <a:gdLst/>
              <a:ahLst/>
              <a:cxnLst/>
              <a:rect r="r" b="b" t="t" l="l"/>
              <a:pathLst>
                <a:path h="877824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17912" cy="903224"/>
            </a:xfrm>
            <a:custGeom>
              <a:avLst/>
              <a:gdLst/>
              <a:ahLst/>
              <a:cxnLst/>
              <a:rect r="r" b="b" t="t" l="l"/>
              <a:pathLst>
                <a:path h="903224" w="10217912">
                  <a:moveTo>
                    <a:pt x="12700" y="0"/>
                  </a:moveTo>
                  <a:lnTo>
                    <a:pt x="10205212" y="0"/>
                  </a:lnTo>
                  <a:cubicBezTo>
                    <a:pt x="10212197" y="0"/>
                    <a:pt x="10217912" y="5715"/>
                    <a:pt x="10217912" y="12700"/>
                  </a:cubicBezTo>
                  <a:lnTo>
                    <a:pt x="10217912" y="890524"/>
                  </a:lnTo>
                  <a:cubicBezTo>
                    <a:pt x="10217912" y="897509"/>
                    <a:pt x="10212197" y="903224"/>
                    <a:pt x="10205212" y="903224"/>
                  </a:cubicBezTo>
                  <a:lnTo>
                    <a:pt x="12700" y="903224"/>
                  </a:lnTo>
                  <a:cubicBezTo>
                    <a:pt x="5715" y="903224"/>
                    <a:pt x="0" y="897509"/>
                    <a:pt x="0" y="89052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90524"/>
                  </a:lnTo>
                  <a:lnTo>
                    <a:pt x="12700" y="890524"/>
                  </a:lnTo>
                  <a:lnTo>
                    <a:pt x="12700" y="877824"/>
                  </a:lnTo>
                  <a:lnTo>
                    <a:pt x="10205212" y="877824"/>
                  </a:lnTo>
                  <a:lnTo>
                    <a:pt x="10205212" y="890524"/>
                  </a:lnTo>
                  <a:lnTo>
                    <a:pt x="10192512" y="890524"/>
                  </a:lnTo>
                  <a:lnTo>
                    <a:pt x="10192512" y="12700"/>
                  </a:lnTo>
                  <a:lnTo>
                    <a:pt x="10205212" y="12700"/>
                  </a:lnTo>
                  <a:lnTo>
                    <a:pt x="1020521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912096" y="1536192"/>
            <a:ext cx="7644384" cy="658368"/>
            <a:chOff x="0" y="0"/>
            <a:chExt cx="10192512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92512" cy="877824"/>
            </a:xfrm>
            <a:custGeom>
              <a:avLst/>
              <a:gdLst/>
              <a:ahLst/>
              <a:cxnLst/>
              <a:rect r="r" b="b" t="t" l="l"/>
              <a:pathLst>
                <a:path h="877824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242" r="0" b="-1762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192512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20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SYSTEM DELIVERS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491223" y="2273303"/>
            <a:ext cx="1305563" cy="6609083"/>
            <a:chOff x="0" y="0"/>
            <a:chExt cx="1740751" cy="88121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70688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40662" cy="8812022"/>
            </a:xfrm>
            <a:custGeom>
              <a:avLst/>
              <a:gdLst/>
              <a:ahLst/>
              <a:cxnLst/>
              <a:rect r="r" b="b" t="t" l="l"/>
              <a:pathLst>
                <a:path h="8812022" w="1740662">
                  <a:moveTo>
                    <a:pt x="16891" y="0"/>
                  </a:moveTo>
                  <a:lnTo>
                    <a:pt x="1723771" y="0"/>
                  </a:lnTo>
                  <a:cubicBezTo>
                    <a:pt x="1733169" y="0"/>
                    <a:pt x="1740662" y="7620"/>
                    <a:pt x="1740662" y="16891"/>
                  </a:cubicBezTo>
                  <a:lnTo>
                    <a:pt x="1740662" y="8795131"/>
                  </a:lnTo>
                  <a:cubicBezTo>
                    <a:pt x="1740662" y="8804529"/>
                    <a:pt x="1733042" y="8812022"/>
                    <a:pt x="1723771" y="8812022"/>
                  </a:cubicBezTo>
                  <a:lnTo>
                    <a:pt x="16891" y="8812022"/>
                  </a:lnTo>
                  <a:cubicBezTo>
                    <a:pt x="7493" y="8812022"/>
                    <a:pt x="0" y="8804402"/>
                    <a:pt x="0" y="8795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95131"/>
                  </a:lnTo>
                  <a:lnTo>
                    <a:pt x="16891" y="8795131"/>
                  </a:lnTo>
                  <a:lnTo>
                    <a:pt x="16891" y="8778240"/>
                  </a:lnTo>
                  <a:lnTo>
                    <a:pt x="1723771" y="8778240"/>
                  </a:lnTo>
                  <a:lnTo>
                    <a:pt x="1723771" y="8795131"/>
                  </a:lnTo>
                  <a:lnTo>
                    <a:pt x="1706880" y="8795131"/>
                  </a:lnTo>
                  <a:lnTo>
                    <a:pt x="1706880" y="16891"/>
                  </a:lnTo>
                  <a:lnTo>
                    <a:pt x="1723771" y="16891"/>
                  </a:lnTo>
                  <a:lnTo>
                    <a:pt x="17237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650224" y="5212080"/>
            <a:ext cx="950976" cy="950976"/>
            <a:chOff x="0" y="0"/>
            <a:chExt cx="1267968" cy="1267968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25167" y="2334511"/>
            <a:ext cx="7657081" cy="1018537"/>
            <a:chOff x="0" y="0"/>
            <a:chExt cx="10209441" cy="13580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18823" y="2328167"/>
            <a:ext cx="135131" cy="1031243"/>
            <a:chOff x="0" y="0"/>
            <a:chExt cx="180175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4128" y="2414016"/>
            <a:ext cx="7040880" cy="438912"/>
            <a:chOff x="0" y="0"/>
            <a:chExt cx="938784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Process Descriptions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4128" y="2871216"/>
            <a:ext cx="7040880" cy="365760"/>
            <a:chOff x="0" y="0"/>
            <a:chExt cx="938784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Free-text workflow descriptions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25167" y="3486655"/>
            <a:ext cx="7657081" cy="1018537"/>
            <a:chOff x="0" y="0"/>
            <a:chExt cx="10209441" cy="135804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18823" y="3480311"/>
            <a:ext cx="135131" cy="1031243"/>
            <a:chOff x="0" y="0"/>
            <a:chExt cx="180175" cy="13749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24128" y="3566160"/>
            <a:ext cx="7040880" cy="438912"/>
            <a:chOff x="0" y="0"/>
            <a:chExt cx="938784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Pain Points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128" y="4023360"/>
            <a:ext cx="7040880" cy="365760"/>
            <a:chOff x="0" y="0"/>
            <a:chExt cx="9387840" cy="4876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Operational challenges &amp; inefficiencies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5167" y="4638799"/>
            <a:ext cx="7657081" cy="1018537"/>
            <a:chOff x="0" y="0"/>
            <a:chExt cx="10209441" cy="135804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18823" y="4632455"/>
            <a:ext cx="135131" cy="1031243"/>
            <a:chOff x="0" y="0"/>
            <a:chExt cx="180175" cy="13749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24128" y="4718304"/>
            <a:ext cx="7040880" cy="438912"/>
            <a:chOff x="0" y="0"/>
            <a:chExt cx="9387840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Tech Stack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24128" y="5175504"/>
            <a:ext cx="7040880" cy="365760"/>
            <a:chOff x="0" y="0"/>
            <a:chExt cx="9387840" cy="4876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Tools, cloud services, integrations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25167" y="5790943"/>
            <a:ext cx="7657081" cy="1018537"/>
            <a:chOff x="0" y="0"/>
            <a:chExt cx="10209441" cy="135804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18823" y="5784599"/>
            <a:ext cx="135131" cy="1031243"/>
            <a:chOff x="0" y="0"/>
            <a:chExt cx="180175" cy="13749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24128" y="5870448"/>
            <a:ext cx="7040880" cy="438912"/>
            <a:chOff x="0" y="0"/>
            <a:chExt cx="9387840" cy="5852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Availability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24128" y="6327648"/>
            <a:ext cx="7040880" cy="365760"/>
            <a:chOff x="0" y="0"/>
            <a:chExt cx="938784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/ Docs / Logs / Images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25167" y="6943087"/>
            <a:ext cx="7657081" cy="1018537"/>
            <a:chOff x="0" y="0"/>
            <a:chExt cx="10209441" cy="135804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18823" y="6936743"/>
            <a:ext cx="135131" cy="1031243"/>
            <a:chOff x="0" y="0"/>
            <a:chExt cx="180175" cy="13749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24128" y="7022592"/>
            <a:ext cx="7040880" cy="438912"/>
            <a:chOff x="0" y="0"/>
            <a:chExt cx="9387840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Constraints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24128" y="7479792"/>
            <a:ext cx="7040880" cy="365760"/>
            <a:chOff x="0" y="0"/>
            <a:chExt cx="9387840" cy="487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Budget, timeline, compliance requirements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905743" y="2334511"/>
            <a:ext cx="7657081" cy="1018537"/>
            <a:chOff x="0" y="0"/>
            <a:chExt cx="10209441" cy="135804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899399" y="2328167"/>
            <a:ext cx="135131" cy="1031243"/>
            <a:chOff x="0" y="0"/>
            <a:chExt cx="180175" cy="13749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204704" y="2414016"/>
            <a:ext cx="7040880" cy="438912"/>
            <a:chOff x="0" y="0"/>
            <a:chExt cx="9387840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Opportunity List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204704" y="2871216"/>
            <a:ext cx="7040880" cy="365760"/>
            <a:chOff x="0" y="0"/>
            <a:chExt cx="938784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Per-process use case + impact score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905743" y="3486655"/>
            <a:ext cx="7657081" cy="1018537"/>
            <a:chOff x="0" y="0"/>
            <a:chExt cx="10209441" cy="1358049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899399" y="3480311"/>
            <a:ext cx="135131" cy="1031243"/>
            <a:chOff x="0" y="0"/>
            <a:chExt cx="180175" cy="137499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0204704" y="3566160"/>
            <a:ext cx="7040880" cy="438912"/>
            <a:chOff x="0" y="0"/>
            <a:chExt cx="9387840" cy="58521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/ Complexity Matrix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204704" y="4023360"/>
            <a:ext cx="7040880" cy="365760"/>
            <a:chOff x="0" y="0"/>
            <a:chExt cx="938784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scatter plot of all opportunities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905743" y="4638799"/>
            <a:ext cx="7657081" cy="1018537"/>
            <a:chOff x="0" y="0"/>
            <a:chExt cx="10209441" cy="1358049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899399" y="4632455"/>
            <a:ext cx="135131" cy="1031243"/>
            <a:chOff x="0" y="0"/>
            <a:chExt cx="180175" cy="1374991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0204704" y="4718304"/>
            <a:ext cx="7040880" cy="438912"/>
            <a:chOff x="0" y="0"/>
            <a:chExt cx="9387840" cy="585216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 Recommendations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204704" y="5175504"/>
            <a:ext cx="7040880" cy="365760"/>
            <a:chOff x="0" y="0"/>
            <a:chExt cx="9387840" cy="4876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services per opportunity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905743" y="5790943"/>
            <a:ext cx="7657081" cy="1018537"/>
            <a:chOff x="0" y="0"/>
            <a:chExt cx="10209441" cy="135804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899399" y="5784599"/>
            <a:ext cx="135131" cy="1031243"/>
            <a:chOff x="0" y="0"/>
            <a:chExt cx="180175" cy="1374991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0204704" y="5870448"/>
            <a:ext cx="7040880" cy="438912"/>
            <a:chOff x="0" y="0"/>
            <a:chExt cx="9387840" cy="58521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Phased Implementation Roadmap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0204704" y="6327648"/>
            <a:ext cx="7040880" cy="365760"/>
            <a:chOff x="0" y="0"/>
            <a:chExt cx="9387840" cy="48768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3-phase timeline with milestones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905743" y="6943087"/>
            <a:ext cx="7657081" cy="1018537"/>
            <a:chOff x="0" y="0"/>
            <a:chExt cx="10209441" cy="135804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8509" y="8509"/>
              <a:ext cx="10192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192512">
                  <a:moveTo>
                    <a:pt x="0" y="0"/>
                  </a:moveTo>
                  <a:lnTo>
                    <a:pt x="10192512" y="0"/>
                  </a:lnTo>
                  <a:lnTo>
                    <a:pt x="10192512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209530" cy="1358138"/>
            </a:xfrm>
            <a:custGeom>
              <a:avLst/>
              <a:gdLst/>
              <a:ahLst/>
              <a:cxnLst/>
              <a:rect r="r" b="b" t="t" l="l"/>
              <a:pathLst>
                <a:path h="1358138" w="10209530">
                  <a:moveTo>
                    <a:pt x="8509" y="0"/>
                  </a:moveTo>
                  <a:lnTo>
                    <a:pt x="10201021" y="0"/>
                  </a:lnTo>
                  <a:cubicBezTo>
                    <a:pt x="10205720" y="0"/>
                    <a:pt x="10209530" y="3810"/>
                    <a:pt x="10209530" y="8509"/>
                  </a:cubicBezTo>
                  <a:lnTo>
                    <a:pt x="10209530" y="1349629"/>
                  </a:lnTo>
                  <a:cubicBezTo>
                    <a:pt x="10209530" y="1354328"/>
                    <a:pt x="10205720" y="1358138"/>
                    <a:pt x="10201021" y="1358138"/>
                  </a:cubicBezTo>
                  <a:lnTo>
                    <a:pt x="8509" y="1358138"/>
                  </a:lnTo>
                  <a:cubicBezTo>
                    <a:pt x="3810" y="1358138"/>
                    <a:pt x="0" y="1354328"/>
                    <a:pt x="0" y="13496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349629"/>
                  </a:lnTo>
                  <a:lnTo>
                    <a:pt x="8509" y="1349629"/>
                  </a:lnTo>
                  <a:lnTo>
                    <a:pt x="8509" y="1341120"/>
                  </a:lnTo>
                  <a:lnTo>
                    <a:pt x="10201021" y="1341120"/>
                  </a:lnTo>
                  <a:lnTo>
                    <a:pt x="10201021" y="1349629"/>
                  </a:lnTo>
                  <a:lnTo>
                    <a:pt x="10192512" y="1349629"/>
                  </a:lnTo>
                  <a:lnTo>
                    <a:pt x="10192512" y="8509"/>
                  </a:lnTo>
                  <a:lnTo>
                    <a:pt x="10201021" y="8509"/>
                  </a:lnTo>
                  <a:lnTo>
                    <a:pt x="1020102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899399" y="6936743"/>
            <a:ext cx="135131" cy="1031243"/>
            <a:chOff x="0" y="0"/>
            <a:chExt cx="180175" cy="137499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46304" cy="1341120"/>
            </a:xfrm>
            <a:custGeom>
              <a:avLst/>
              <a:gdLst/>
              <a:ahLst/>
              <a:cxnLst/>
              <a:rect r="r" b="b" t="t" l="l"/>
              <a:pathLst>
                <a:path h="134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80086" cy="1374902"/>
            </a:xfrm>
            <a:custGeom>
              <a:avLst/>
              <a:gdLst/>
              <a:ahLst/>
              <a:cxnLst/>
              <a:rect r="r" b="b" t="t" l="l"/>
              <a:pathLst>
                <a:path h="137490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0204704" y="7022592"/>
            <a:ext cx="7040880" cy="438912"/>
            <a:chOff x="0" y="0"/>
            <a:chExt cx="9387840" cy="585216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387840" cy="585216"/>
            </a:xfrm>
            <a:custGeom>
              <a:avLst/>
              <a:gdLst/>
              <a:ahLst/>
              <a:cxnLst/>
              <a:rect r="r" b="b" t="t" l="l"/>
              <a:pathLst>
                <a:path h="58521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2572" r="0" b="-262572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38784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Executive Summary + Chat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204704" y="7479792"/>
            <a:ext cx="7040880" cy="365760"/>
            <a:chOff x="0" y="0"/>
            <a:chExt cx="9387840" cy="4876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387840" cy="487680"/>
            </a:xfrm>
            <a:custGeom>
              <a:avLst/>
              <a:gdLst/>
              <a:ahLst/>
              <a:cxnLst/>
              <a:rect r="r" b="b" t="t" l="l"/>
              <a:pathLst>
                <a:path h="48768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5086" r="0" b="-32508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9387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Narrative report + interactive Q&amp;A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12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7-Layer Design including Report Assistant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5167" y="1493263"/>
            <a:ext cx="16837657" cy="1073401"/>
            <a:chOff x="0" y="0"/>
            <a:chExt cx="22450209" cy="14312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8823" y="1486919"/>
            <a:ext cx="135131" cy="1086107"/>
            <a:chOff x="0" y="0"/>
            <a:chExt cx="180175" cy="14481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086" cy="1448054"/>
            </a:xfrm>
            <a:custGeom>
              <a:avLst/>
              <a:gdLst/>
              <a:ahLst/>
              <a:cxnLst/>
              <a:rect r="r" b="b" t="t" l="l"/>
              <a:pathLst>
                <a:path h="14480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93143" y="1669799"/>
            <a:ext cx="720347" cy="720347"/>
            <a:chOff x="0" y="0"/>
            <a:chExt cx="960463" cy="9604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5840" y="1682496"/>
            <a:ext cx="694944" cy="694944"/>
            <a:chOff x="0" y="0"/>
            <a:chExt cx="926592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75104" y="1609344"/>
            <a:ext cx="3383280" cy="475488"/>
            <a:chOff x="0" y="0"/>
            <a:chExt cx="4511040" cy="633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2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975104" y="2048256"/>
            <a:ext cx="14813280" cy="402336"/>
            <a:chOff x="0" y="0"/>
            <a:chExt cx="19751040" cy="5364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751039" cy="536448"/>
            </a:xfrm>
            <a:custGeom>
              <a:avLst/>
              <a:gdLst/>
              <a:ahLst/>
              <a:cxnLst/>
              <a:rect r="r" b="b" t="t" l="l"/>
              <a:pathLst>
                <a:path h="53644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403" r="0" b="-66740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9751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AssessmentForm  ·  ProcessingScreen  ·  ResultsDashboard  ·  ChatWindow  ·  ZebLogo  ·  api.js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5167" y="2636263"/>
            <a:ext cx="16837657" cy="1073401"/>
            <a:chOff x="0" y="0"/>
            <a:chExt cx="22450209" cy="14312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18823" y="2629919"/>
            <a:ext cx="135131" cy="1086107"/>
            <a:chOff x="0" y="0"/>
            <a:chExt cx="180175" cy="14481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0086" cy="1448054"/>
            </a:xfrm>
            <a:custGeom>
              <a:avLst/>
              <a:gdLst/>
              <a:ahLst/>
              <a:cxnLst/>
              <a:rect r="r" b="b" t="t" l="l"/>
              <a:pathLst>
                <a:path h="14480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3143" y="2812799"/>
            <a:ext cx="720347" cy="720347"/>
            <a:chOff x="0" y="0"/>
            <a:chExt cx="960463" cy="9604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5840" y="2825496"/>
            <a:ext cx="694944" cy="694944"/>
            <a:chOff x="0" y="0"/>
            <a:chExt cx="926592" cy="926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75104" y="2752344"/>
            <a:ext cx="3383280" cy="475488"/>
            <a:chOff x="0" y="0"/>
            <a:chExt cx="4511040" cy="6339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20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SERVER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75104" y="3191256"/>
            <a:ext cx="14813280" cy="402336"/>
            <a:chOff x="0" y="0"/>
            <a:chExt cx="19751040" cy="5364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751039" cy="536448"/>
            </a:xfrm>
            <a:custGeom>
              <a:avLst/>
              <a:gdLst/>
              <a:ahLst/>
              <a:cxnLst/>
              <a:rect r="r" b="b" t="t" l="l"/>
              <a:pathLst>
                <a:path h="53644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403" r="0" b="-66740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9751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main.py  ·  routers/assessment.py  ·  POST /assess  ·  GET /result/:id  ·  POST /chat/:id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25167" y="3779263"/>
            <a:ext cx="16837657" cy="1073401"/>
            <a:chOff x="0" y="0"/>
            <a:chExt cx="22450209" cy="143120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18823" y="3772919"/>
            <a:ext cx="135131" cy="1086107"/>
            <a:chOff x="0" y="0"/>
            <a:chExt cx="180175" cy="14481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0086" cy="1448054"/>
            </a:xfrm>
            <a:custGeom>
              <a:avLst/>
              <a:gdLst/>
              <a:ahLst/>
              <a:cxnLst/>
              <a:rect r="r" b="b" t="t" l="l"/>
              <a:pathLst>
                <a:path h="14480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3143" y="3955799"/>
            <a:ext cx="720347" cy="720347"/>
            <a:chOff x="0" y="0"/>
            <a:chExt cx="960463" cy="96046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5840" y="3968496"/>
            <a:ext cx="694944" cy="694944"/>
            <a:chOff x="0" y="0"/>
            <a:chExt cx="926592" cy="926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75104" y="3895344"/>
            <a:ext cx="3383280" cy="475488"/>
            <a:chOff x="0" y="0"/>
            <a:chExt cx="4511040" cy="6339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20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975104" y="4334256"/>
            <a:ext cx="14813280" cy="402336"/>
            <a:chOff x="0" y="0"/>
            <a:chExt cx="19751040" cy="5364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751039" cy="536448"/>
            </a:xfrm>
            <a:custGeom>
              <a:avLst/>
              <a:gdLst/>
              <a:ahLst/>
              <a:cxnLst/>
              <a:rect r="r" b="b" t="t" l="l"/>
              <a:pathLst>
                <a:path h="53644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403" r="0" b="-66740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19751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analysis_engine.py  ·  embedding_service.py  ·  complexity_scorer.py  ·  report_generator.py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25167" y="4922263"/>
            <a:ext cx="16837657" cy="1073401"/>
            <a:chOff x="0" y="0"/>
            <a:chExt cx="22450209" cy="143120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18823" y="4915919"/>
            <a:ext cx="135131" cy="1086107"/>
            <a:chOff x="0" y="0"/>
            <a:chExt cx="180175" cy="144814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0086" cy="1448054"/>
            </a:xfrm>
            <a:custGeom>
              <a:avLst/>
              <a:gdLst/>
              <a:ahLst/>
              <a:cxnLst/>
              <a:rect r="r" b="b" t="t" l="l"/>
              <a:pathLst>
                <a:path h="14480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93143" y="5098799"/>
            <a:ext cx="720347" cy="720347"/>
            <a:chOff x="0" y="0"/>
            <a:chExt cx="960463" cy="96046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05840" y="5111496"/>
            <a:ext cx="694944" cy="694944"/>
            <a:chOff x="0" y="0"/>
            <a:chExt cx="926592" cy="9265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975104" y="5038344"/>
            <a:ext cx="3383280" cy="475488"/>
            <a:chOff x="0" y="0"/>
            <a:chExt cx="4511040" cy="6339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20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AWS BEDROCK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975104" y="5477256"/>
            <a:ext cx="14813280" cy="402336"/>
            <a:chOff x="0" y="0"/>
            <a:chExt cx="19751040" cy="5364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751039" cy="536448"/>
            </a:xfrm>
            <a:custGeom>
              <a:avLst/>
              <a:gdLst/>
              <a:ahLst/>
              <a:cxnLst/>
              <a:rect r="r" b="b" t="t" l="l"/>
              <a:pathLst>
                <a:path h="53644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403" r="0" b="-66740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9751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3.5 Sonnet (Call 1 + Call 2 + Chat calls)  ·  Amazon Titan Embeddings (Call 3)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25167" y="6065263"/>
            <a:ext cx="16837657" cy="1073401"/>
            <a:chOff x="0" y="0"/>
            <a:chExt cx="22450209" cy="143120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718823" y="6058919"/>
            <a:ext cx="135131" cy="1086107"/>
            <a:chOff x="0" y="0"/>
            <a:chExt cx="180175" cy="144814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80086" cy="1448054"/>
            </a:xfrm>
            <a:custGeom>
              <a:avLst/>
              <a:gdLst/>
              <a:ahLst/>
              <a:cxnLst/>
              <a:rect r="r" b="b" t="t" l="l"/>
              <a:pathLst>
                <a:path h="14480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93143" y="6241799"/>
            <a:ext cx="720347" cy="720347"/>
            <a:chOff x="0" y="0"/>
            <a:chExt cx="960463" cy="96046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05840" y="6254496"/>
            <a:ext cx="694944" cy="694944"/>
            <a:chOff x="0" y="0"/>
            <a:chExt cx="926592" cy="9265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975104" y="6181344"/>
            <a:ext cx="3383280" cy="475488"/>
            <a:chOff x="0" y="0"/>
            <a:chExt cx="4511040" cy="63398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20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975104" y="6620256"/>
            <a:ext cx="14813280" cy="402336"/>
            <a:chOff x="0" y="0"/>
            <a:chExt cx="19751040" cy="5364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9751039" cy="536448"/>
            </a:xfrm>
            <a:custGeom>
              <a:avLst/>
              <a:gdLst/>
              <a:ahLst/>
              <a:cxnLst/>
              <a:rect r="r" b="b" t="t" l="l"/>
              <a:pathLst>
                <a:path h="53644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403" r="0" b="-667403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19751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SQLite  ·  assessments table (status tracking)  ·  reports table (full_report_json)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725167" y="7208263"/>
            <a:ext cx="16837657" cy="1073401"/>
            <a:chOff x="0" y="0"/>
            <a:chExt cx="22450209" cy="143120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718823" y="7201919"/>
            <a:ext cx="135131" cy="1086107"/>
            <a:chOff x="0" y="0"/>
            <a:chExt cx="180175" cy="1448143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80086" cy="1448054"/>
            </a:xfrm>
            <a:custGeom>
              <a:avLst/>
              <a:gdLst/>
              <a:ahLst/>
              <a:cxnLst/>
              <a:rect r="r" b="b" t="t" l="l"/>
              <a:pathLst>
                <a:path h="14480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93143" y="7384799"/>
            <a:ext cx="720347" cy="720347"/>
            <a:chOff x="0" y="0"/>
            <a:chExt cx="960463" cy="96046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005840" y="7397496"/>
            <a:ext cx="694944" cy="694944"/>
            <a:chOff x="0" y="0"/>
            <a:chExt cx="926592" cy="9265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975104" y="7324344"/>
            <a:ext cx="3383280" cy="475488"/>
            <a:chOff x="0" y="0"/>
            <a:chExt cx="4511040" cy="63398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20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LAYER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975104" y="7763256"/>
            <a:ext cx="14813280" cy="402336"/>
            <a:chOff x="0" y="0"/>
            <a:chExt cx="19751040" cy="53644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9751039" cy="536448"/>
            </a:xfrm>
            <a:custGeom>
              <a:avLst/>
              <a:gdLst/>
              <a:ahLst/>
              <a:cxnLst/>
              <a:rect r="r" b="b" t="t" l="l"/>
              <a:pathLst>
                <a:path h="53644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403" r="0" b="-66740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9751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Opportunity List  ·  Impact Matrix  ·  Phased Roadmap  ·  Tech Stack  ·  Executive Summary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725167" y="8351263"/>
            <a:ext cx="16837657" cy="1073401"/>
            <a:chOff x="0" y="0"/>
            <a:chExt cx="22450209" cy="143120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718823" y="8344919"/>
            <a:ext cx="135131" cy="1086107"/>
            <a:chOff x="0" y="0"/>
            <a:chExt cx="180175" cy="144814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16891" y="16891"/>
              <a:ext cx="14630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80086" cy="1448054"/>
            </a:xfrm>
            <a:custGeom>
              <a:avLst/>
              <a:gdLst/>
              <a:ahLst/>
              <a:cxnLst/>
              <a:rect r="r" b="b" t="t" l="l"/>
              <a:pathLst>
                <a:path h="144805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31163"/>
                  </a:lnTo>
                  <a:cubicBezTo>
                    <a:pt x="180086" y="1440561"/>
                    <a:pt x="172466" y="1448054"/>
                    <a:pt x="163195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63195" y="1414272"/>
                  </a:lnTo>
                  <a:lnTo>
                    <a:pt x="163195" y="1431163"/>
                  </a:lnTo>
                  <a:lnTo>
                    <a:pt x="146304" y="143116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93143" y="8527799"/>
            <a:ext cx="720347" cy="720347"/>
            <a:chOff x="0" y="0"/>
            <a:chExt cx="960463" cy="96046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005840" y="8540496"/>
            <a:ext cx="694944" cy="694944"/>
            <a:chOff x="0" y="0"/>
            <a:chExt cx="926592" cy="926592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926592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975104" y="8467344"/>
            <a:ext cx="3383280" cy="475488"/>
            <a:chOff x="0" y="0"/>
            <a:chExt cx="4511040" cy="633984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4511040" cy="633984"/>
            </a:xfrm>
            <a:custGeom>
              <a:avLst/>
              <a:gdLst/>
              <a:ahLst/>
              <a:cxnLst/>
              <a:rect r="r" b="b" t="t" l="l"/>
              <a:pathLst>
                <a:path h="633984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643" r="0" b="-8864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45110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20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ASSISTANT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975104" y="8906256"/>
            <a:ext cx="14813280" cy="402336"/>
            <a:chOff x="0" y="0"/>
            <a:chExt cx="19751040" cy="53644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9751039" cy="536448"/>
            </a:xfrm>
            <a:custGeom>
              <a:avLst/>
              <a:gdLst/>
              <a:ahLst/>
              <a:cxnLst/>
              <a:rect r="r" b="b" t="t" l="l"/>
              <a:pathLst>
                <a:path h="536448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7403" r="0" b="-667403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19751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ChatWindow.jsx  ·  POST /api/chat/:id  ·  Report JSON as system prompt  ·  Multi-turn history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12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ORCHESTRATION PIPELINE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Layer 3 Deep Dive — 4 Sequential Stages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22343" y="1486919"/>
            <a:ext cx="6243323" cy="574043"/>
            <a:chOff x="0" y="0"/>
            <a:chExt cx="8324431" cy="7653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24342" cy="765304"/>
            </a:xfrm>
            <a:custGeom>
              <a:avLst/>
              <a:gdLst/>
              <a:ahLst/>
              <a:cxnLst/>
              <a:rect r="r" b="b" t="t" l="l"/>
              <a:pathLst>
                <a:path h="765304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748411"/>
                  </a:lnTo>
                  <a:cubicBezTo>
                    <a:pt x="8324342" y="757809"/>
                    <a:pt x="8316722" y="765302"/>
                    <a:pt x="83074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8307451" y="731520"/>
                  </a:lnTo>
                  <a:lnTo>
                    <a:pt x="8307451" y="748411"/>
                  </a:lnTo>
                  <a:lnTo>
                    <a:pt x="8290560" y="74841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35040" y="1499616"/>
            <a:ext cx="6217920" cy="548640"/>
            <a:chOff x="0" y="0"/>
            <a:chExt cx="82905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9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90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Validated Form Input (JSON)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92811" y="2221611"/>
            <a:ext cx="4133850" cy="7059930"/>
            <a:chOff x="0" y="0"/>
            <a:chExt cx="5511800" cy="9413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54864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11800" cy="9413240"/>
            </a:xfrm>
            <a:custGeom>
              <a:avLst/>
              <a:gdLst/>
              <a:ahLst/>
              <a:cxnLst/>
              <a:rect r="r" b="b" t="t" l="l"/>
              <a:pathLst>
                <a:path h="94132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9400540"/>
                  </a:lnTo>
                  <a:cubicBezTo>
                    <a:pt x="5511800" y="9407525"/>
                    <a:pt x="5506085" y="9413240"/>
                    <a:pt x="5499100" y="9413240"/>
                  </a:cubicBezTo>
                  <a:lnTo>
                    <a:pt x="12700" y="9413240"/>
                  </a:lnTo>
                  <a:cubicBezTo>
                    <a:pt x="5715" y="9413240"/>
                    <a:pt x="0" y="9407525"/>
                    <a:pt x="0" y="9400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400540"/>
                  </a:lnTo>
                  <a:lnTo>
                    <a:pt x="12700" y="9400540"/>
                  </a:lnTo>
                  <a:lnTo>
                    <a:pt x="12700" y="9387840"/>
                  </a:lnTo>
                  <a:lnTo>
                    <a:pt x="5499100" y="9387840"/>
                  </a:lnTo>
                  <a:lnTo>
                    <a:pt x="5499100" y="9400540"/>
                  </a:lnTo>
                  <a:lnTo>
                    <a:pt x="5486400" y="94005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89639" y="2218439"/>
            <a:ext cx="4140203" cy="939803"/>
            <a:chOff x="0" y="0"/>
            <a:chExt cx="5520271" cy="12530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548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20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1236091"/>
                  </a:lnTo>
                  <a:cubicBezTo>
                    <a:pt x="5520182" y="1245489"/>
                    <a:pt x="5512562" y="1252982"/>
                    <a:pt x="5503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503291" y="1219200"/>
                  </a:lnTo>
                  <a:lnTo>
                    <a:pt x="5503291" y="1236091"/>
                  </a:lnTo>
                  <a:lnTo>
                    <a:pt x="5486400" y="12360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85216" y="2286000"/>
            <a:ext cx="1828800" cy="365760"/>
            <a:chOff x="0" y="0"/>
            <a:chExt cx="2438400" cy="4876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00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85216" y="2633472"/>
            <a:ext cx="3749040" cy="438912"/>
            <a:chOff x="0" y="0"/>
            <a:chExt cx="4998720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Analysis Engine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78863" y="3322063"/>
            <a:ext cx="3761737" cy="488185"/>
            <a:chOff x="0" y="0"/>
            <a:chExt cx="5015649" cy="65091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8509" y="8509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15738" cy="651002"/>
            </a:xfrm>
            <a:custGeom>
              <a:avLst/>
              <a:gdLst/>
              <a:ahLst/>
              <a:cxnLst/>
              <a:rect r="r" b="b" t="t" l="l"/>
              <a:pathLst>
                <a:path h="651002" w="5015738">
                  <a:moveTo>
                    <a:pt x="8509" y="0"/>
                  </a:moveTo>
                  <a:lnTo>
                    <a:pt x="5007229" y="0"/>
                  </a:lnTo>
                  <a:cubicBezTo>
                    <a:pt x="5011928" y="0"/>
                    <a:pt x="5015738" y="3810"/>
                    <a:pt x="5015738" y="8509"/>
                  </a:cubicBezTo>
                  <a:lnTo>
                    <a:pt x="5015738" y="642493"/>
                  </a:lnTo>
                  <a:cubicBezTo>
                    <a:pt x="5015738" y="647192"/>
                    <a:pt x="5011928" y="651002"/>
                    <a:pt x="500722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5007229" y="633984"/>
                  </a:lnTo>
                  <a:lnTo>
                    <a:pt x="5007229" y="642493"/>
                  </a:lnTo>
                  <a:lnTo>
                    <a:pt x="4998720" y="642493"/>
                  </a:lnTo>
                  <a:lnTo>
                    <a:pt x="4998720" y="8509"/>
                  </a:lnTo>
                  <a:lnTo>
                    <a:pt x="5007229" y="8509"/>
                  </a:lnTo>
                  <a:lnTo>
                    <a:pt x="5007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85216" y="3328416"/>
            <a:ext cx="3749040" cy="475488"/>
            <a:chOff x="0" y="0"/>
            <a:chExt cx="4998720" cy="6339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632" r="0" b="-10363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998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85216" y="3913632"/>
            <a:ext cx="3749040" cy="329184"/>
            <a:chOff x="0" y="0"/>
            <a:chExt cx="4998720" cy="4389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9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49987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analysis_engine.py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63959" y="4577591"/>
            <a:ext cx="171707" cy="171707"/>
            <a:chOff x="0" y="0"/>
            <a:chExt cx="228943" cy="22894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50976" y="4389120"/>
            <a:ext cx="3364992" cy="694944"/>
            <a:chOff x="0" y="0"/>
            <a:chExt cx="4486656" cy="926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patterns per process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63959" y="5382263"/>
            <a:ext cx="171707" cy="171707"/>
            <a:chOff x="0" y="0"/>
            <a:chExt cx="228943" cy="22894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0976" y="5193792"/>
            <a:ext cx="3364992" cy="694944"/>
            <a:chOff x="0" y="0"/>
            <a:chExt cx="4486656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 to AI use case category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3959" y="6186935"/>
            <a:ext cx="171707" cy="171707"/>
            <a:chOff x="0" y="0"/>
            <a:chExt cx="228943" cy="2289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0976" y="5998464"/>
            <a:ext cx="3364992" cy="694944"/>
            <a:chOff x="0" y="0"/>
            <a:chExt cx="4486656" cy="9265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Estimate impact + rationale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32559" y="8497567"/>
            <a:ext cx="4054345" cy="597913"/>
            <a:chOff x="0" y="0"/>
            <a:chExt cx="5405793" cy="79721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8509" y="8509"/>
              <a:ext cx="5388864" cy="780288"/>
            </a:xfrm>
            <a:custGeom>
              <a:avLst/>
              <a:gdLst/>
              <a:ahLst/>
              <a:cxnLst/>
              <a:rect r="r" b="b" t="t" l="l"/>
              <a:pathLst>
                <a:path h="780288" w="5388864">
                  <a:moveTo>
                    <a:pt x="0" y="0"/>
                  </a:moveTo>
                  <a:lnTo>
                    <a:pt x="5388864" y="0"/>
                  </a:lnTo>
                  <a:lnTo>
                    <a:pt x="538886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405882" cy="797306"/>
            </a:xfrm>
            <a:custGeom>
              <a:avLst/>
              <a:gdLst/>
              <a:ahLst/>
              <a:cxnLst/>
              <a:rect r="r" b="b" t="t" l="l"/>
              <a:pathLst>
                <a:path h="797306" w="5405882">
                  <a:moveTo>
                    <a:pt x="8509" y="0"/>
                  </a:moveTo>
                  <a:lnTo>
                    <a:pt x="5397373" y="0"/>
                  </a:lnTo>
                  <a:cubicBezTo>
                    <a:pt x="5402072" y="0"/>
                    <a:pt x="5405882" y="3810"/>
                    <a:pt x="5405882" y="8509"/>
                  </a:cubicBezTo>
                  <a:lnTo>
                    <a:pt x="5405882" y="788797"/>
                  </a:lnTo>
                  <a:cubicBezTo>
                    <a:pt x="5405882" y="793496"/>
                    <a:pt x="5402072" y="797306"/>
                    <a:pt x="5397373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5397373" y="780288"/>
                  </a:lnTo>
                  <a:lnTo>
                    <a:pt x="5397373" y="788797"/>
                  </a:lnTo>
                  <a:lnTo>
                    <a:pt x="5388864" y="788797"/>
                  </a:lnTo>
                  <a:lnTo>
                    <a:pt x="5388864" y="8509"/>
                  </a:lnTo>
                  <a:lnTo>
                    <a:pt x="5397373" y="8509"/>
                  </a:lnTo>
                  <a:lnTo>
                    <a:pt x="53973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12064" y="8503920"/>
            <a:ext cx="3895344" cy="585216"/>
            <a:chOff x="0" y="0"/>
            <a:chExt cx="5193792" cy="7802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93792" cy="780288"/>
            </a:xfrm>
            <a:custGeom>
              <a:avLst/>
              <a:gdLst/>
              <a:ahLst/>
              <a:cxnLst/>
              <a:rect r="r" b="b" t="t" l="l"/>
              <a:pathLst>
                <a:path h="780288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697" r="0" b="-7969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51937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Opportunity List JSON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553712" y="4425696"/>
            <a:ext cx="365760" cy="365760"/>
            <a:chOff x="0" y="0"/>
            <a:chExt cx="487680" cy="487680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818507" y="2221611"/>
            <a:ext cx="4133850" cy="7059930"/>
            <a:chOff x="0" y="0"/>
            <a:chExt cx="5511800" cy="94132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2700" y="12700"/>
              <a:ext cx="54864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511800" cy="9413240"/>
            </a:xfrm>
            <a:custGeom>
              <a:avLst/>
              <a:gdLst/>
              <a:ahLst/>
              <a:cxnLst/>
              <a:rect r="r" b="b" t="t" l="l"/>
              <a:pathLst>
                <a:path h="94132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9400540"/>
                  </a:lnTo>
                  <a:cubicBezTo>
                    <a:pt x="5511800" y="9407525"/>
                    <a:pt x="5506085" y="9413240"/>
                    <a:pt x="5499100" y="9413240"/>
                  </a:cubicBezTo>
                  <a:lnTo>
                    <a:pt x="12700" y="9413240"/>
                  </a:lnTo>
                  <a:cubicBezTo>
                    <a:pt x="5715" y="9413240"/>
                    <a:pt x="0" y="9407525"/>
                    <a:pt x="0" y="9400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400540"/>
                  </a:lnTo>
                  <a:lnTo>
                    <a:pt x="12700" y="9400540"/>
                  </a:lnTo>
                  <a:lnTo>
                    <a:pt x="12700" y="9387840"/>
                  </a:lnTo>
                  <a:lnTo>
                    <a:pt x="5499100" y="9387840"/>
                  </a:lnTo>
                  <a:lnTo>
                    <a:pt x="5499100" y="9400540"/>
                  </a:lnTo>
                  <a:lnTo>
                    <a:pt x="5486400" y="94005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815335" y="2218439"/>
            <a:ext cx="4140203" cy="939803"/>
            <a:chOff x="0" y="0"/>
            <a:chExt cx="5520271" cy="125307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548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520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1236091"/>
                  </a:lnTo>
                  <a:cubicBezTo>
                    <a:pt x="5520182" y="1245489"/>
                    <a:pt x="5512562" y="1252982"/>
                    <a:pt x="5503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503291" y="1219200"/>
                  </a:lnTo>
                  <a:lnTo>
                    <a:pt x="5503291" y="1236091"/>
                  </a:lnTo>
                  <a:lnTo>
                    <a:pt x="5486400" y="12360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5010912" y="2286000"/>
            <a:ext cx="1828800" cy="365760"/>
            <a:chOff x="0" y="0"/>
            <a:chExt cx="2438400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00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2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010912" y="2633472"/>
            <a:ext cx="3749040" cy="438912"/>
            <a:chOff x="0" y="0"/>
            <a:chExt cx="4998720" cy="5852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Embedding Validator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004559" y="3322063"/>
            <a:ext cx="3761737" cy="488185"/>
            <a:chOff x="0" y="0"/>
            <a:chExt cx="5015649" cy="65091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8509" y="8509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015738" cy="651002"/>
            </a:xfrm>
            <a:custGeom>
              <a:avLst/>
              <a:gdLst/>
              <a:ahLst/>
              <a:cxnLst/>
              <a:rect r="r" b="b" t="t" l="l"/>
              <a:pathLst>
                <a:path h="651002" w="5015738">
                  <a:moveTo>
                    <a:pt x="8509" y="0"/>
                  </a:moveTo>
                  <a:lnTo>
                    <a:pt x="5007229" y="0"/>
                  </a:lnTo>
                  <a:cubicBezTo>
                    <a:pt x="5011928" y="0"/>
                    <a:pt x="5015738" y="3810"/>
                    <a:pt x="5015738" y="8509"/>
                  </a:cubicBezTo>
                  <a:lnTo>
                    <a:pt x="5015738" y="642493"/>
                  </a:lnTo>
                  <a:cubicBezTo>
                    <a:pt x="5015738" y="647192"/>
                    <a:pt x="5011928" y="651002"/>
                    <a:pt x="500722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5007229" y="633984"/>
                  </a:lnTo>
                  <a:lnTo>
                    <a:pt x="5007229" y="642493"/>
                  </a:lnTo>
                  <a:lnTo>
                    <a:pt x="4998720" y="642493"/>
                  </a:lnTo>
                  <a:lnTo>
                    <a:pt x="4998720" y="8509"/>
                  </a:lnTo>
                  <a:lnTo>
                    <a:pt x="5007229" y="8509"/>
                  </a:lnTo>
                  <a:lnTo>
                    <a:pt x="5007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010912" y="3328416"/>
            <a:ext cx="3749040" cy="475488"/>
            <a:chOff x="0" y="0"/>
            <a:chExt cx="4998720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632" r="0" b="-10363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998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Amazon Titan v1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010912" y="3913632"/>
            <a:ext cx="3749040" cy="329184"/>
            <a:chOff x="0" y="0"/>
            <a:chExt cx="499872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99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49987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embedding_service.py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089655" y="4577591"/>
            <a:ext cx="171707" cy="171707"/>
            <a:chOff x="0" y="0"/>
            <a:chExt cx="228943" cy="22894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5376672" y="4389120"/>
            <a:ext cx="3364992" cy="694944"/>
            <a:chOff x="0" y="0"/>
            <a:chExt cx="4486656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1536-dim vector embeddings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089655" y="5382263"/>
            <a:ext cx="171707" cy="171707"/>
            <a:chOff x="0" y="0"/>
            <a:chExt cx="228943" cy="22894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376672" y="5193792"/>
            <a:ext cx="3364992" cy="694944"/>
            <a:chOff x="0" y="0"/>
            <a:chExt cx="4486656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Cosine similarity vs 8 categories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89655" y="6186935"/>
            <a:ext cx="171707" cy="171707"/>
            <a:chOff x="0" y="0"/>
            <a:chExt cx="228943" cy="22894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376672" y="5998464"/>
            <a:ext cx="3364992" cy="694944"/>
            <a:chOff x="0" y="0"/>
            <a:chExt cx="4486656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Validates / corrects Claude's mapping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858255" y="8497567"/>
            <a:ext cx="4054345" cy="597913"/>
            <a:chOff x="0" y="0"/>
            <a:chExt cx="5405793" cy="79721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5388864" cy="780288"/>
            </a:xfrm>
            <a:custGeom>
              <a:avLst/>
              <a:gdLst/>
              <a:ahLst/>
              <a:cxnLst/>
              <a:rect r="r" b="b" t="t" l="l"/>
              <a:pathLst>
                <a:path h="780288" w="5388864">
                  <a:moveTo>
                    <a:pt x="0" y="0"/>
                  </a:moveTo>
                  <a:lnTo>
                    <a:pt x="5388864" y="0"/>
                  </a:lnTo>
                  <a:lnTo>
                    <a:pt x="538886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405882" cy="797306"/>
            </a:xfrm>
            <a:custGeom>
              <a:avLst/>
              <a:gdLst/>
              <a:ahLst/>
              <a:cxnLst/>
              <a:rect r="r" b="b" t="t" l="l"/>
              <a:pathLst>
                <a:path h="797306" w="5405882">
                  <a:moveTo>
                    <a:pt x="8509" y="0"/>
                  </a:moveTo>
                  <a:lnTo>
                    <a:pt x="5397373" y="0"/>
                  </a:lnTo>
                  <a:cubicBezTo>
                    <a:pt x="5402072" y="0"/>
                    <a:pt x="5405882" y="3810"/>
                    <a:pt x="5405882" y="8509"/>
                  </a:cubicBezTo>
                  <a:lnTo>
                    <a:pt x="5405882" y="788797"/>
                  </a:lnTo>
                  <a:cubicBezTo>
                    <a:pt x="5405882" y="793496"/>
                    <a:pt x="5402072" y="797306"/>
                    <a:pt x="5397373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5397373" y="780288"/>
                  </a:lnTo>
                  <a:lnTo>
                    <a:pt x="5397373" y="788797"/>
                  </a:lnTo>
                  <a:lnTo>
                    <a:pt x="5388864" y="788797"/>
                  </a:lnTo>
                  <a:lnTo>
                    <a:pt x="5388864" y="8509"/>
                  </a:lnTo>
                  <a:lnTo>
                    <a:pt x="5397373" y="8509"/>
                  </a:lnTo>
                  <a:lnTo>
                    <a:pt x="53973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4937760" y="8503920"/>
            <a:ext cx="3895344" cy="585216"/>
            <a:chOff x="0" y="0"/>
            <a:chExt cx="5193792" cy="78028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193792" cy="780288"/>
            </a:xfrm>
            <a:custGeom>
              <a:avLst/>
              <a:gdLst/>
              <a:ahLst/>
              <a:cxnLst/>
              <a:rect r="r" b="b" t="t" l="l"/>
              <a:pathLst>
                <a:path h="780288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697" r="0" b="-7969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1937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Validated + Similarity Scores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8979408" y="4425696"/>
            <a:ext cx="365760" cy="365760"/>
            <a:chOff x="0" y="0"/>
            <a:chExt cx="487680" cy="487680"/>
          </a:xfrm>
        </p:grpSpPr>
        <p:sp>
          <p:nvSpPr>
            <p:cNvPr name="Freeform 120" id="120" descr="preencoded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244203" y="2221611"/>
            <a:ext cx="4133850" cy="7059930"/>
            <a:chOff x="0" y="0"/>
            <a:chExt cx="5511800" cy="94132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2700" y="12700"/>
              <a:ext cx="54864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511800" cy="9413240"/>
            </a:xfrm>
            <a:custGeom>
              <a:avLst/>
              <a:gdLst/>
              <a:ahLst/>
              <a:cxnLst/>
              <a:rect r="r" b="b" t="t" l="l"/>
              <a:pathLst>
                <a:path h="94132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9400540"/>
                  </a:lnTo>
                  <a:cubicBezTo>
                    <a:pt x="5511800" y="9407525"/>
                    <a:pt x="5506085" y="9413240"/>
                    <a:pt x="5499100" y="9413240"/>
                  </a:cubicBezTo>
                  <a:lnTo>
                    <a:pt x="12700" y="9413240"/>
                  </a:lnTo>
                  <a:cubicBezTo>
                    <a:pt x="5715" y="9413240"/>
                    <a:pt x="0" y="9407525"/>
                    <a:pt x="0" y="9400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400540"/>
                  </a:lnTo>
                  <a:lnTo>
                    <a:pt x="12700" y="9400540"/>
                  </a:lnTo>
                  <a:lnTo>
                    <a:pt x="12700" y="9387840"/>
                  </a:lnTo>
                  <a:lnTo>
                    <a:pt x="5499100" y="9387840"/>
                  </a:lnTo>
                  <a:lnTo>
                    <a:pt x="5499100" y="9400540"/>
                  </a:lnTo>
                  <a:lnTo>
                    <a:pt x="5486400" y="94005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241031" y="2218439"/>
            <a:ext cx="4140203" cy="939803"/>
            <a:chOff x="0" y="0"/>
            <a:chExt cx="5520271" cy="125307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548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520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1236091"/>
                  </a:lnTo>
                  <a:cubicBezTo>
                    <a:pt x="5520182" y="1245489"/>
                    <a:pt x="5512562" y="1252982"/>
                    <a:pt x="5503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503291" y="1219200"/>
                  </a:lnTo>
                  <a:lnTo>
                    <a:pt x="5503291" y="1236091"/>
                  </a:lnTo>
                  <a:lnTo>
                    <a:pt x="5486400" y="12360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436608" y="2286000"/>
            <a:ext cx="1828800" cy="365760"/>
            <a:chOff x="0" y="0"/>
            <a:chExt cx="2438400" cy="4876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00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3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436608" y="2633472"/>
            <a:ext cx="3749040" cy="438912"/>
            <a:chOff x="0" y="0"/>
            <a:chExt cx="4998720" cy="58521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Complexity Scorer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430255" y="3322063"/>
            <a:ext cx="3761737" cy="488185"/>
            <a:chOff x="0" y="0"/>
            <a:chExt cx="5015649" cy="65091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8509" y="8509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5015738" cy="651002"/>
            </a:xfrm>
            <a:custGeom>
              <a:avLst/>
              <a:gdLst/>
              <a:ahLst/>
              <a:cxnLst/>
              <a:rect r="r" b="b" t="t" l="l"/>
              <a:pathLst>
                <a:path h="651002" w="5015738">
                  <a:moveTo>
                    <a:pt x="8509" y="0"/>
                  </a:moveTo>
                  <a:lnTo>
                    <a:pt x="5007229" y="0"/>
                  </a:lnTo>
                  <a:cubicBezTo>
                    <a:pt x="5011928" y="0"/>
                    <a:pt x="5015738" y="3810"/>
                    <a:pt x="5015738" y="8509"/>
                  </a:cubicBezTo>
                  <a:lnTo>
                    <a:pt x="5015738" y="642493"/>
                  </a:lnTo>
                  <a:cubicBezTo>
                    <a:pt x="5015738" y="647192"/>
                    <a:pt x="5011928" y="651002"/>
                    <a:pt x="500722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5007229" y="633984"/>
                  </a:lnTo>
                  <a:lnTo>
                    <a:pt x="5007229" y="642493"/>
                  </a:lnTo>
                  <a:lnTo>
                    <a:pt x="4998720" y="642493"/>
                  </a:lnTo>
                  <a:lnTo>
                    <a:pt x="4998720" y="8509"/>
                  </a:lnTo>
                  <a:lnTo>
                    <a:pt x="5007229" y="8509"/>
                  </a:lnTo>
                  <a:lnTo>
                    <a:pt x="5007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436608" y="3328416"/>
            <a:ext cx="3749040" cy="475488"/>
            <a:chOff x="0" y="0"/>
            <a:chExt cx="4998720" cy="6339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632" r="0" b="-103632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4998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Pure Python — No AI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436608" y="3913632"/>
            <a:ext cx="3749040" cy="329184"/>
            <a:chOff x="0" y="0"/>
            <a:chExt cx="4998720" cy="43891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499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49987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complexity_scorer.py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515351" y="4577591"/>
            <a:ext cx="171707" cy="171707"/>
            <a:chOff x="0" y="0"/>
            <a:chExt cx="228943" cy="228943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802368" y="4389120"/>
            <a:ext cx="3364992" cy="694944"/>
            <a:chOff x="0" y="0"/>
            <a:chExt cx="4486656" cy="926592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Availability score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515351" y="5382263"/>
            <a:ext cx="171707" cy="171707"/>
            <a:chOff x="0" y="0"/>
            <a:chExt cx="228943" cy="228943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802368" y="5193792"/>
            <a:ext cx="3364992" cy="694944"/>
            <a:chOff x="0" y="0"/>
            <a:chExt cx="4486656" cy="92659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 Dependency score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515351" y="6186935"/>
            <a:ext cx="171707" cy="171707"/>
            <a:chOff x="0" y="0"/>
            <a:chExt cx="228943" cy="228943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9802368" y="5998464"/>
            <a:ext cx="3364992" cy="694944"/>
            <a:chOff x="0" y="0"/>
            <a:chExt cx="4486656" cy="926592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Requirement score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283951" y="8497567"/>
            <a:ext cx="4054345" cy="597913"/>
            <a:chOff x="0" y="0"/>
            <a:chExt cx="5405793" cy="797217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8509" y="8509"/>
              <a:ext cx="5388864" cy="780288"/>
            </a:xfrm>
            <a:custGeom>
              <a:avLst/>
              <a:gdLst/>
              <a:ahLst/>
              <a:cxnLst/>
              <a:rect r="r" b="b" t="t" l="l"/>
              <a:pathLst>
                <a:path h="780288" w="5388864">
                  <a:moveTo>
                    <a:pt x="0" y="0"/>
                  </a:moveTo>
                  <a:lnTo>
                    <a:pt x="5388864" y="0"/>
                  </a:lnTo>
                  <a:lnTo>
                    <a:pt x="538886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5405882" cy="797306"/>
            </a:xfrm>
            <a:custGeom>
              <a:avLst/>
              <a:gdLst/>
              <a:ahLst/>
              <a:cxnLst/>
              <a:rect r="r" b="b" t="t" l="l"/>
              <a:pathLst>
                <a:path h="797306" w="5405882">
                  <a:moveTo>
                    <a:pt x="8509" y="0"/>
                  </a:moveTo>
                  <a:lnTo>
                    <a:pt x="5397373" y="0"/>
                  </a:lnTo>
                  <a:cubicBezTo>
                    <a:pt x="5402072" y="0"/>
                    <a:pt x="5405882" y="3810"/>
                    <a:pt x="5405882" y="8509"/>
                  </a:cubicBezTo>
                  <a:lnTo>
                    <a:pt x="5405882" y="788797"/>
                  </a:lnTo>
                  <a:cubicBezTo>
                    <a:pt x="5405882" y="793496"/>
                    <a:pt x="5402072" y="797306"/>
                    <a:pt x="5397373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5397373" y="780288"/>
                  </a:lnTo>
                  <a:lnTo>
                    <a:pt x="5397373" y="788797"/>
                  </a:lnTo>
                  <a:lnTo>
                    <a:pt x="5388864" y="788797"/>
                  </a:lnTo>
                  <a:lnTo>
                    <a:pt x="5388864" y="8509"/>
                  </a:lnTo>
                  <a:lnTo>
                    <a:pt x="5397373" y="8509"/>
                  </a:lnTo>
                  <a:lnTo>
                    <a:pt x="53973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9363456" y="8503920"/>
            <a:ext cx="3895344" cy="585216"/>
            <a:chOff x="0" y="0"/>
            <a:chExt cx="5193792" cy="780288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5193792" cy="780288"/>
            </a:xfrm>
            <a:custGeom>
              <a:avLst/>
              <a:gdLst/>
              <a:ahLst/>
              <a:cxnLst/>
              <a:rect r="r" b="b" t="t" l="l"/>
              <a:pathLst>
                <a:path h="780288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697" r="0" b="-79697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51937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Complexity + Matrix Data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405104" y="4425696"/>
            <a:ext cx="365760" cy="365760"/>
            <a:chOff x="0" y="0"/>
            <a:chExt cx="487680" cy="487680"/>
          </a:xfrm>
        </p:grpSpPr>
        <p:sp>
          <p:nvSpPr>
            <p:cNvPr name="Freeform 167" id="167" descr="preencoded.png"/>
            <p:cNvSpPr/>
            <p:nvPr/>
          </p:nvSpPr>
          <p:spPr>
            <a:xfrm flipH="false" flipV="false" rot="0">
              <a:off x="0" y="0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487680"/>
                  </a:lnTo>
                  <a:lnTo>
                    <a:pt x="0" y="487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669899" y="2221611"/>
            <a:ext cx="4133850" cy="7059930"/>
            <a:chOff x="0" y="0"/>
            <a:chExt cx="5511800" cy="941324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12700" y="12700"/>
              <a:ext cx="5486400" cy="9387840"/>
            </a:xfrm>
            <a:custGeom>
              <a:avLst/>
              <a:gdLst/>
              <a:ahLst/>
              <a:cxnLst/>
              <a:rect r="r" b="b" t="t" l="l"/>
              <a:pathLst>
                <a:path h="93878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387840"/>
                  </a:lnTo>
                  <a:lnTo>
                    <a:pt x="0" y="938784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5511800" cy="9413240"/>
            </a:xfrm>
            <a:custGeom>
              <a:avLst/>
              <a:gdLst/>
              <a:ahLst/>
              <a:cxnLst/>
              <a:rect r="r" b="b" t="t" l="l"/>
              <a:pathLst>
                <a:path h="9413240" w="5511800">
                  <a:moveTo>
                    <a:pt x="12700" y="0"/>
                  </a:moveTo>
                  <a:lnTo>
                    <a:pt x="5499100" y="0"/>
                  </a:lnTo>
                  <a:cubicBezTo>
                    <a:pt x="5506085" y="0"/>
                    <a:pt x="5511800" y="5715"/>
                    <a:pt x="5511800" y="12700"/>
                  </a:cubicBezTo>
                  <a:lnTo>
                    <a:pt x="5511800" y="9400540"/>
                  </a:lnTo>
                  <a:cubicBezTo>
                    <a:pt x="5511800" y="9407525"/>
                    <a:pt x="5506085" y="9413240"/>
                    <a:pt x="5499100" y="9413240"/>
                  </a:cubicBezTo>
                  <a:lnTo>
                    <a:pt x="12700" y="9413240"/>
                  </a:lnTo>
                  <a:cubicBezTo>
                    <a:pt x="5715" y="9413240"/>
                    <a:pt x="0" y="9407525"/>
                    <a:pt x="0" y="94005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400540"/>
                  </a:lnTo>
                  <a:lnTo>
                    <a:pt x="12700" y="9400540"/>
                  </a:lnTo>
                  <a:lnTo>
                    <a:pt x="12700" y="9387840"/>
                  </a:lnTo>
                  <a:lnTo>
                    <a:pt x="5499100" y="9387840"/>
                  </a:lnTo>
                  <a:lnTo>
                    <a:pt x="5499100" y="9400540"/>
                  </a:lnTo>
                  <a:lnTo>
                    <a:pt x="5486400" y="9400540"/>
                  </a:lnTo>
                  <a:lnTo>
                    <a:pt x="5486400" y="12700"/>
                  </a:lnTo>
                  <a:lnTo>
                    <a:pt x="5499100" y="12700"/>
                  </a:lnTo>
                  <a:lnTo>
                    <a:pt x="54991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666727" y="2218439"/>
            <a:ext cx="4140203" cy="939803"/>
            <a:chOff x="0" y="0"/>
            <a:chExt cx="5520271" cy="1253071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16891" y="16891"/>
              <a:ext cx="548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5201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1236091"/>
                  </a:lnTo>
                  <a:cubicBezTo>
                    <a:pt x="5520182" y="1245489"/>
                    <a:pt x="5512562" y="1252982"/>
                    <a:pt x="55032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5503291" y="1219200"/>
                  </a:lnTo>
                  <a:lnTo>
                    <a:pt x="5503291" y="1236091"/>
                  </a:lnTo>
                  <a:lnTo>
                    <a:pt x="5486400" y="123609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62304" y="2286000"/>
            <a:ext cx="1828800" cy="365760"/>
            <a:chOff x="0" y="0"/>
            <a:chExt cx="2438400" cy="48768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24384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00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4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3862304" y="2633472"/>
            <a:ext cx="3749040" cy="438912"/>
            <a:chOff x="0" y="0"/>
            <a:chExt cx="4998720" cy="585216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4998720" cy="585216"/>
            </a:xfrm>
            <a:custGeom>
              <a:avLst/>
              <a:gdLst/>
              <a:ahLst/>
              <a:cxnLst/>
              <a:rect r="r" b="b" t="t" l="l"/>
              <a:pathLst>
                <a:path h="585216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49987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Generator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3855951" y="3322063"/>
            <a:ext cx="3761737" cy="488185"/>
            <a:chOff x="0" y="0"/>
            <a:chExt cx="5015649" cy="650913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8509" y="8509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5015738" cy="651002"/>
            </a:xfrm>
            <a:custGeom>
              <a:avLst/>
              <a:gdLst/>
              <a:ahLst/>
              <a:cxnLst/>
              <a:rect r="r" b="b" t="t" l="l"/>
              <a:pathLst>
                <a:path h="651002" w="5015738">
                  <a:moveTo>
                    <a:pt x="8509" y="0"/>
                  </a:moveTo>
                  <a:lnTo>
                    <a:pt x="5007229" y="0"/>
                  </a:lnTo>
                  <a:cubicBezTo>
                    <a:pt x="5011928" y="0"/>
                    <a:pt x="5015738" y="3810"/>
                    <a:pt x="5015738" y="8509"/>
                  </a:cubicBezTo>
                  <a:lnTo>
                    <a:pt x="5015738" y="642493"/>
                  </a:lnTo>
                  <a:cubicBezTo>
                    <a:pt x="5015738" y="647192"/>
                    <a:pt x="5011928" y="651002"/>
                    <a:pt x="5007229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5007229" y="633984"/>
                  </a:lnTo>
                  <a:lnTo>
                    <a:pt x="5007229" y="642493"/>
                  </a:lnTo>
                  <a:lnTo>
                    <a:pt x="4998720" y="642493"/>
                  </a:lnTo>
                  <a:lnTo>
                    <a:pt x="4998720" y="8509"/>
                  </a:lnTo>
                  <a:lnTo>
                    <a:pt x="5007229" y="8509"/>
                  </a:lnTo>
                  <a:lnTo>
                    <a:pt x="500722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13862304" y="3328416"/>
            <a:ext cx="3749040" cy="475488"/>
            <a:chOff x="0" y="0"/>
            <a:chExt cx="4998720" cy="633984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4998720" cy="633984"/>
            </a:xfrm>
            <a:custGeom>
              <a:avLst/>
              <a:gdLst/>
              <a:ahLst/>
              <a:cxnLst/>
              <a:rect r="r" b="b" t="t" l="l"/>
              <a:pathLst>
                <a:path h="633984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632" r="0" b="-103632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38100"/>
              <a:ext cx="499872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3862304" y="3913632"/>
            <a:ext cx="3749040" cy="329184"/>
            <a:chOff x="0" y="0"/>
            <a:chExt cx="4998720" cy="438912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499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28575"/>
              <a:ext cx="499872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report_generator.py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13941047" y="4577591"/>
            <a:ext cx="171707" cy="171707"/>
            <a:chOff x="0" y="0"/>
            <a:chExt cx="228943" cy="228943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14228064" y="4389120"/>
            <a:ext cx="3364992" cy="694944"/>
            <a:chOff x="0" y="0"/>
            <a:chExt cx="4486656" cy="926592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194" id="194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Executive summary prose</a:t>
              </a:r>
            </a:p>
          </p:txBody>
        </p:sp>
      </p:grpSp>
      <p:grpSp>
        <p:nvGrpSpPr>
          <p:cNvPr name="Group 195" id="195"/>
          <p:cNvGrpSpPr/>
          <p:nvPr/>
        </p:nvGrpSpPr>
        <p:grpSpPr>
          <a:xfrm rot="0">
            <a:off x="13941047" y="5382263"/>
            <a:ext cx="171707" cy="171707"/>
            <a:chOff x="0" y="0"/>
            <a:chExt cx="228943" cy="228943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98" id="198"/>
          <p:cNvGrpSpPr/>
          <p:nvPr/>
        </p:nvGrpSpPr>
        <p:grpSpPr>
          <a:xfrm rot="0">
            <a:off x="14228064" y="5193792"/>
            <a:ext cx="3364992" cy="694944"/>
            <a:chOff x="0" y="0"/>
            <a:chExt cx="4486656" cy="926592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3-phase implementation plan</a:t>
              </a: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13941047" y="6186935"/>
            <a:ext cx="171707" cy="171707"/>
            <a:chOff x="0" y="0"/>
            <a:chExt cx="228943" cy="228943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04" id="204"/>
          <p:cNvGrpSpPr/>
          <p:nvPr/>
        </p:nvGrpSpPr>
        <p:grpSpPr>
          <a:xfrm rot="0">
            <a:off x="14228064" y="5998464"/>
            <a:ext cx="3364992" cy="694944"/>
            <a:chOff x="0" y="0"/>
            <a:chExt cx="4486656" cy="926592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4486656" cy="926592"/>
            </a:xfrm>
            <a:custGeom>
              <a:avLst/>
              <a:gdLst/>
              <a:ahLst/>
              <a:cxnLst/>
              <a:rect r="r" b="b" t="t" l="l"/>
              <a:pathLst>
                <a:path h="9265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348" r="0" b="-44348"/>
              </a:stretch>
            </a:blipFill>
          </p:spPr>
        </p:sp>
        <p:sp>
          <p:nvSpPr>
            <p:cNvPr name="TextBox 206" id="206"/>
            <p:cNvSpPr txBox="true"/>
            <p:nvPr/>
          </p:nvSpPr>
          <p:spPr>
            <a:xfrm>
              <a:off x="0" y="-66675"/>
              <a:ext cx="4486656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service recommendations</a:t>
              </a:r>
            </a:p>
          </p:txBody>
        </p:sp>
      </p:grpSp>
      <p:grpSp>
        <p:nvGrpSpPr>
          <p:cNvPr name="Group 207" id="207"/>
          <p:cNvGrpSpPr/>
          <p:nvPr/>
        </p:nvGrpSpPr>
        <p:grpSpPr>
          <a:xfrm rot="0">
            <a:off x="13709647" y="8497567"/>
            <a:ext cx="4054345" cy="597913"/>
            <a:chOff x="0" y="0"/>
            <a:chExt cx="5405793" cy="79721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8509" y="8509"/>
              <a:ext cx="5388864" cy="780288"/>
            </a:xfrm>
            <a:custGeom>
              <a:avLst/>
              <a:gdLst/>
              <a:ahLst/>
              <a:cxnLst/>
              <a:rect r="r" b="b" t="t" l="l"/>
              <a:pathLst>
                <a:path h="780288" w="5388864">
                  <a:moveTo>
                    <a:pt x="0" y="0"/>
                  </a:moveTo>
                  <a:lnTo>
                    <a:pt x="5388864" y="0"/>
                  </a:lnTo>
                  <a:lnTo>
                    <a:pt x="5388864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5405882" cy="797306"/>
            </a:xfrm>
            <a:custGeom>
              <a:avLst/>
              <a:gdLst/>
              <a:ahLst/>
              <a:cxnLst/>
              <a:rect r="r" b="b" t="t" l="l"/>
              <a:pathLst>
                <a:path h="797306" w="5405882">
                  <a:moveTo>
                    <a:pt x="8509" y="0"/>
                  </a:moveTo>
                  <a:lnTo>
                    <a:pt x="5397373" y="0"/>
                  </a:lnTo>
                  <a:cubicBezTo>
                    <a:pt x="5402072" y="0"/>
                    <a:pt x="5405882" y="3810"/>
                    <a:pt x="5405882" y="8509"/>
                  </a:cubicBezTo>
                  <a:lnTo>
                    <a:pt x="5405882" y="788797"/>
                  </a:lnTo>
                  <a:cubicBezTo>
                    <a:pt x="5405882" y="793496"/>
                    <a:pt x="5402072" y="797306"/>
                    <a:pt x="5397373" y="797306"/>
                  </a:cubicBezTo>
                  <a:lnTo>
                    <a:pt x="8509" y="797306"/>
                  </a:lnTo>
                  <a:cubicBezTo>
                    <a:pt x="3810" y="797306"/>
                    <a:pt x="0" y="793496"/>
                    <a:pt x="0" y="78879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88797"/>
                  </a:lnTo>
                  <a:lnTo>
                    <a:pt x="8509" y="788797"/>
                  </a:lnTo>
                  <a:lnTo>
                    <a:pt x="8509" y="780288"/>
                  </a:lnTo>
                  <a:lnTo>
                    <a:pt x="5397373" y="780288"/>
                  </a:lnTo>
                  <a:lnTo>
                    <a:pt x="5397373" y="788797"/>
                  </a:lnTo>
                  <a:lnTo>
                    <a:pt x="5388864" y="788797"/>
                  </a:lnTo>
                  <a:lnTo>
                    <a:pt x="5388864" y="8509"/>
                  </a:lnTo>
                  <a:lnTo>
                    <a:pt x="5397373" y="8509"/>
                  </a:lnTo>
                  <a:lnTo>
                    <a:pt x="53973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10" id="210"/>
          <p:cNvGrpSpPr/>
          <p:nvPr/>
        </p:nvGrpSpPr>
        <p:grpSpPr>
          <a:xfrm rot="0">
            <a:off x="13789152" y="8503920"/>
            <a:ext cx="3895344" cy="585216"/>
            <a:chOff x="0" y="0"/>
            <a:chExt cx="5193792" cy="780288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5193792" cy="780288"/>
            </a:xfrm>
            <a:custGeom>
              <a:avLst/>
              <a:gdLst/>
              <a:ahLst/>
              <a:cxnLst/>
              <a:rect r="r" b="b" t="t" l="l"/>
              <a:pathLst>
                <a:path h="780288" w="5193792">
                  <a:moveTo>
                    <a:pt x="0" y="0"/>
                  </a:moveTo>
                  <a:lnTo>
                    <a:pt x="5193792" y="0"/>
                  </a:lnTo>
                  <a:lnTo>
                    <a:pt x="5193792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697" r="0" b="-79697"/>
              </a:stretch>
            </a:blipFill>
          </p:spPr>
        </p:sp>
        <p:sp>
          <p:nvSpPr>
            <p:cNvPr name="TextBox 212" id="212"/>
            <p:cNvSpPr txBox="true"/>
            <p:nvPr/>
          </p:nvSpPr>
          <p:spPr>
            <a:xfrm>
              <a:off x="0" y="-38100"/>
              <a:ext cx="5193792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Report JSON</a:t>
              </a:r>
            </a:p>
          </p:txBody>
        </p:sp>
      </p:grpSp>
      <p:grpSp>
        <p:nvGrpSpPr>
          <p:cNvPr name="Group 213" id="213"/>
          <p:cNvGrpSpPr/>
          <p:nvPr/>
        </p:nvGrpSpPr>
        <p:grpSpPr>
          <a:xfrm rot="0">
            <a:off x="389639" y="9222743"/>
            <a:ext cx="17508731" cy="500891"/>
            <a:chOff x="0" y="0"/>
            <a:chExt cx="23344975" cy="667855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16891" y="16891"/>
              <a:ext cx="23311104" cy="633984"/>
            </a:xfrm>
            <a:custGeom>
              <a:avLst/>
              <a:gdLst/>
              <a:ahLst/>
              <a:cxnLst/>
              <a:rect r="r" b="b" t="t" l="l"/>
              <a:pathLst>
                <a:path h="633984" w="23311104">
                  <a:moveTo>
                    <a:pt x="0" y="0"/>
                  </a:moveTo>
                  <a:lnTo>
                    <a:pt x="23311104" y="0"/>
                  </a:lnTo>
                  <a:lnTo>
                    <a:pt x="2331110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3344885" cy="667768"/>
            </a:xfrm>
            <a:custGeom>
              <a:avLst/>
              <a:gdLst/>
              <a:ahLst/>
              <a:cxnLst/>
              <a:rect r="r" b="b" t="t" l="l"/>
              <a:pathLst>
                <a:path h="667768" w="23344885">
                  <a:moveTo>
                    <a:pt x="16891" y="0"/>
                  </a:moveTo>
                  <a:lnTo>
                    <a:pt x="23327995" y="0"/>
                  </a:lnTo>
                  <a:cubicBezTo>
                    <a:pt x="23337393" y="0"/>
                    <a:pt x="23344885" y="7620"/>
                    <a:pt x="23344885" y="16891"/>
                  </a:cubicBezTo>
                  <a:lnTo>
                    <a:pt x="23344885" y="650875"/>
                  </a:lnTo>
                  <a:cubicBezTo>
                    <a:pt x="23344885" y="660273"/>
                    <a:pt x="23337265" y="667766"/>
                    <a:pt x="23327995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23327995" y="633984"/>
                  </a:lnTo>
                  <a:lnTo>
                    <a:pt x="23327995" y="650875"/>
                  </a:lnTo>
                  <a:lnTo>
                    <a:pt x="23311104" y="650875"/>
                  </a:lnTo>
                  <a:lnTo>
                    <a:pt x="23311104" y="16891"/>
                  </a:lnTo>
                  <a:lnTo>
                    <a:pt x="23327995" y="16891"/>
                  </a:lnTo>
                  <a:lnTo>
                    <a:pt x="233279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402336" y="9235440"/>
            <a:ext cx="17483328" cy="475488"/>
            <a:chOff x="0" y="0"/>
            <a:chExt cx="23311104" cy="633984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23311104" cy="633984"/>
            </a:xfrm>
            <a:custGeom>
              <a:avLst/>
              <a:gdLst/>
              <a:ahLst/>
              <a:cxnLst/>
              <a:rect r="r" b="b" t="t" l="l"/>
              <a:pathLst>
                <a:path h="633984" w="23311104">
                  <a:moveTo>
                    <a:pt x="0" y="0"/>
                  </a:moveTo>
                  <a:lnTo>
                    <a:pt x="23311104" y="0"/>
                  </a:lnTo>
                  <a:lnTo>
                    <a:pt x="2331110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6449" r="0" b="-666449"/>
              </a:stretch>
            </a:blipFill>
          </p:spPr>
        </p:sp>
        <p:sp>
          <p:nvSpPr>
            <p:cNvPr name="TextBox 218" id="218"/>
            <p:cNvSpPr txBox="true"/>
            <p:nvPr/>
          </p:nvSpPr>
          <p:spPr>
            <a:xfrm>
              <a:off x="0" y="-38100"/>
              <a:ext cx="2331110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Report JSON  →  SQLite Database  →  Frontend Dashboard  →  Report Assistant Chat</a:t>
              </a: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25" id="225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227" id="227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228" id="228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30" id="230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12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MODEL LAYER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AWS Bedrock — 3 models, 3 distinct roles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8823" y="1523495"/>
            <a:ext cx="7980683" cy="7980683"/>
            <a:chOff x="0" y="0"/>
            <a:chExt cx="10640911" cy="106409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060704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607040"/>
                  </a:lnTo>
                  <a:lnTo>
                    <a:pt x="0" y="1060704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40822" cy="10640822"/>
            </a:xfrm>
            <a:custGeom>
              <a:avLst/>
              <a:gdLst/>
              <a:ahLst/>
              <a:cxnLst/>
              <a:rect r="r" b="b" t="t" l="l"/>
              <a:pathLst>
                <a:path h="10640822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0623931"/>
                  </a:lnTo>
                  <a:cubicBezTo>
                    <a:pt x="10640822" y="10633329"/>
                    <a:pt x="10633202" y="10640822"/>
                    <a:pt x="10623931" y="10640822"/>
                  </a:cubicBezTo>
                  <a:lnTo>
                    <a:pt x="16891" y="10640822"/>
                  </a:lnTo>
                  <a:cubicBezTo>
                    <a:pt x="7493" y="10640822"/>
                    <a:pt x="0" y="10633202"/>
                    <a:pt x="0" y="10623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23931"/>
                  </a:lnTo>
                  <a:lnTo>
                    <a:pt x="16891" y="10623931"/>
                  </a:lnTo>
                  <a:lnTo>
                    <a:pt x="16891" y="10607040"/>
                  </a:lnTo>
                  <a:lnTo>
                    <a:pt x="10623931" y="10607040"/>
                  </a:lnTo>
                  <a:lnTo>
                    <a:pt x="10623931" y="10623931"/>
                  </a:lnTo>
                  <a:lnTo>
                    <a:pt x="10607040" y="1062393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8823" y="1523495"/>
            <a:ext cx="7980683" cy="1086107"/>
            <a:chOff x="0" y="0"/>
            <a:chExt cx="10640911" cy="14481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060704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4082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431163"/>
                  </a:lnTo>
                  <a:cubicBezTo>
                    <a:pt x="10640822" y="1440561"/>
                    <a:pt x="10633202" y="1448054"/>
                    <a:pt x="1062393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623931" y="1414272"/>
                  </a:lnTo>
                  <a:lnTo>
                    <a:pt x="10623931" y="1431163"/>
                  </a:lnTo>
                  <a:lnTo>
                    <a:pt x="10607040" y="1431163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18823" y="1523495"/>
            <a:ext cx="7980683" cy="116843"/>
            <a:chOff x="0" y="0"/>
            <a:chExt cx="10640911" cy="1557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607040" cy="121920"/>
            </a:xfrm>
            <a:custGeom>
              <a:avLst/>
              <a:gdLst/>
              <a:ahLst/>
              <a:cxnLst/>
              <a:rect r="r" b="b" t="t" l="l"/>
              <a:pathLst>
                <a:path h="1219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40822" cy="155704"/>
            </a:xfrm>
            <a:custGeom>
              <a:avLst/>
              <a:gdLst/>
              <a:ahLst/>
              <a:cxnLst/>
              <a:rect r="r" b="b" t="t" l="l"/>
              <a:pathLst>
                <a:path h="155704" w="10640822">
                  <a:moveTo>
                    <a:pt x="16891" y="0"/>
                  </a:moveTo>
                  <a:lnTo>
                    <a:pt x="10623931" y="0"/>
                  </a:lnTo>
                  <a:cubicBezTo>
                    <a:pt x="10633329" y="0"/>
                    <a:pt x="10640822" y="7620"/>
                    <a:pt x="10640822" y="16891"/>
                  </a:cubicBezTo>
                  <a:lnTo>
                    <a:pt x="10640822" y="138811"/>
                  </a:lnTo>
                  <a:cubicBezTo>
                    <a:pt x="10640822" y="148209"/>
                    <a:pt x="10633202" y="155702"/>
                    <a:pt x="1062393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623931" y="121920"/>
                  </a:lnTo>
                  <a:lnTo>
                    <a:pt x="10623931" y="138811"/>
                  </a:lnTo>
                  <a:lnTo>
                    <a:pt x="10607040" y="138811"/>
                  </a:lnTo>
                  <a:lnTo>
                    <a:pt x="10607040" y="16891"/>
                  </a:lnTo>
                  <a:lnTo>
                    <a:pt x="10623931" y="16891"/>
                  </a:lnTo>
                  <a:lnTo>
                    <a:pt x="10623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4128" y="1645920"/>
            <a:ext cx="731520" cy="731520"/>
            <a:chOff x="0" y="0"/>
            <a:chExt cx="975360" cy="97536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975104" y="1609344"/>
            <a:ext cx="6400800" cy="475488"/>
            <a:chOff x="0" y="0"/>
            <a:chExt cx="853440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34400" cy="633984"/>
            </a:xfrm>
            <a:custGeom>
              <a:avLst/>
              <a:gdLst/>
              <a:ahLst/>
              <a:cxnLst/>
              <a:rect r="r" b="b" t="t" l="l"/>
              <a:pathLst>
                <a:path h="633984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2298" r="0" b="-2122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5344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60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75104" y="2084832"/>
            <a:ext cx="6400800" cy="402336"/>
            <a:chOff x="0" y="0"/>
            <a:chExt cx="853440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anthropic.claude-3-5-sonnet  ·  Called 2x per assessment + N chat calls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1703" y="2840231"/>
            <a:ext cx="7614923" cy="500891"/>
            <a:chOff x="0" y="0"/>
            <a:chExt cx="10153231" cy="6678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119360" cy="633984"/>
            </a:xfrm>
            <a:custGeom>
              <a:avLst/>
              <a:gdLst/>
              <a:ahLst/>
              <a:cxnLst/>
              <a:rect r="r" b="b" t="t" l="l"/>
              <a:pathLst>
                <a:path h="63398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153142" cy="667768"/>
            </a:xfrm>
            <a:custGeom>
              <a:avLst/>
              <a:gdLst/>
              <a:ahLst/>
              <a:cxnLst/>
              <a:rect r="r" b="b" t="t" l="l"/>
              <a:pathLst>
                <a:path h="667768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650875"/>
                  </a:lnTo>
                  <a:cubicBezTo>
                    <a:pt x="10153142" y="660273"/>
                    <a:pt x="10145522" y="667766"/>
                    <a:pt x="10136251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10136251" y="633984"/>
                  </a:lnTo>
                  <a:lnTo>
                    <a:pt x="10136251" y="650875"/>
                  </a:lnTo>
                  <a:lnTo>
                    <a:pt x="10119360" y="650875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2852928"/>
            <a:ext cx="7589520" cy="475488"/>
            <a:chOff x="0" y="0"/>
            <a:chExt cx="10119360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19360" cy="633984"/>
            </a:xfrm>
            <a:custGeom>
              <a:avLst/>
              <a:gdLst/>
              <a:ahLst/>
              <a:cxnLst/>
              <a:rect r="r" b="b" t="t" l="l"/>
              <a:pathLst>
                <a:path h="63398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1011" r="0" b="-2610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1011936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CALL 1  analysis_engine.py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1703" y="3388871"/>
            <a:ext cx="1342139" cy="574043"/>
            <a:chOff x="0" y="0"/>
            <a:chExt cx="1789519" cy="765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89430" cy="765304"/>
            </a:xfrm>
            <a:custGeom>
              <a:avLst/>
              <a:gdLst/>
              <a:ahLst/>
              <a:cxnLst/>
              <a:rect r="r" b="b" t="t" l="l"/>
              <a:pathLst>
                <a:path h="765304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748411"/>
                  </a:lnTo>
                  <a:cubicBezTo>
                    <a:pt x="1789430" y="757809"/>
                    <a:pt x="1781810" y="765302"/>
                    <a:pt x="177253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772539" y="731520"/>
                  </a:lnTo>
                  <a:lnTo>
                    <a:pt x="1772539" y="748411"/>
                  </a:lnTo>
                  <a:lnTo>
                    <a:pt x="1755648" y="748411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182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3401568"/>
            <a:ext cx="1316736" cy="548640"/>
            <a:chOff x="0" y="0"/>
            <a:chExt cx="1755648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40864" y="3438144"/>
            <a:ext cx="5998464" cy="512064"/>
            <a:chOff x="0" y="0"/>
            <a:chExt cx="7997952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79979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form JSON + system prompt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1703" y="4028951"/>
            <a:ext cx="1342139" cy="574043"/>
            <a:chOff x="0" y="0"/>
            <a:chExt cx="1789519" cy="7653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89430" cy="765304"/>
            </a:xfrm>
            <a:custGeom>
              <a:avLst/>
              <a:gdLst/>
              <a:ahLst/>
              <a:cxnLst/>
              <a:rect r="r" b="b" t="t" l="l"/>
              <a:pathLst>
                <a:path h="765304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748411"/>
                  </a:lnTo>
                  <a:cubicBezTo>
                    <a:pt x="1789430" y="757809"/>
                    <a:pt x="1781810" y="765302"/>
                    <a:pt x="177253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772539" y="731520"/>
                  </a:lnTo>
                  <a:lnTo>
                    <a:pt x="1772539" y="748411"/>
                  </a:lnTo>
                  <a:lnTo>
                    <a:pt x="1755648" y="748411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182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4041648"/>
            <a:ext cx="1316736" cy="548640"/>
            <a:chOff x="0" y="0"/>
            <a:chExt cx="1755648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340864" y="4078224"/>
            <a:ext cx="5998464" cy="512064"/>
            <a:chOff x="0" y="0"/>
            <a:chExt cx="799795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79979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patterns, map use cases, score impact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1703" y="4669031"/>
            <a:ext cx="1342139" cy="574043"/>
            <a:chOff x="0" y="0"/>
            <a:chExt cx="1789519" cy="76539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89430" cy="765304"/>
            </a:xfrm>
            <a:custGeom>
              <a:avLst/>
              <a:gdLst/>
              <a:ahLst/>
              <a:cxnLst/>
              <a:rect r="r" b="b" t="t" l="l"/>
              <a:pathLst>
                <a:path h="765304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748411"/>
                  </a:lnTo>
                  <a:cubicBezTo>
                    <a:pt x="1789430" y="757809"/>
                    <a:pt x="1781810" y="765302"/>
                    <a:pt x="177253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772539" y="731520"/>
                  </a:lnTo>
                  <a:lnTo>
                    <a:pt x="1772539" y="748411"/>
                  </a:lnTo>
                  <a:lnTo>
                    <a:pt x="1755648" y="748411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182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4681728"/>
            <a:ext cx="1316736" cy="548640"/>
            <a:chOff x="0" y="0"/>
            <a:chExt cx="1755648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340864" y="4718304"/>
            <a:ext cx="5998464" cy="512064"/>
            <a:chOff x="0" y="0"/>
            <a:chExt cx="7997952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79979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Opportunity List JSON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01703" y="5985767"/>
            <a:ext cx="7614923" cy="500891"/>
            <a:chOff x="0" y="0"/>
            <a:chExt cx="10153231" cy="66785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119360" cy="633984"/>
            </a:xfrm>
            <a:custGeom>
              <a:avLst/>
              <a:gdLst/>
              <a:ahLst/>
              <a:cxnLst/>
              <a:rect r="r" b="b" t="t" l="l"/>
              <a:pathLst>
                <a:path h="63398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153142" cy="667768"/>
            </a:xfrm>
            <a:custGeom>
              <a:avLst/>
              <a:gdLst/>
              <a:ahLst/>
              <a:cxnLst/>
              <a:rect r="r" b="b" t="t" l="l"/>
              <a:pathLst>
                <a:path h="667768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650875"/>
                  </a:lnTo>
                  <a:cubicBezTo>
                    <a:pt x="10153142" y="660273"/>
                    <a:pt x="10145522" y="667766"/>
                    <a:pt x="10136251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10136251" y="633984"/>
                  </a:lnTo>
                  <a:lnTo>
                    <a:pt x="10136251" y="650875"/>
                  </a:lnTo>
                  <a:lnTo>
                    <a:pt x="10119360" y="650875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14400" y="5998464"/>
            <a:ext cx="7589520" cy="475488"/>
            <a:chOff x="0" y="0"/>
            <a:chExt cx="10119360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119360" cy="633984"/>
            </a:xfrm>
            <a:custGeom>
              <a:avLst/>
              <a:gdLst/>
              <a:ahLst/>
              <a:cxnLst/>
              <a:rect r="r" b="b" t="t" l="l"/>
              <a:pathLst>
                <a:path h="63398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1011" r="0" b="-26101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011936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CALL 2  report_generator.py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01703" y="6534407"/>
            <a:ext cx="1342139" cy="574043"/>
            <a:chOff x="0" y="0"/>
            <a:chExt cx="1789519" cy="76539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89430" cy="765304"/>
            </a:xfrm>
            <a:custGeom>
              <a:avLst/>
              <a:gdLst/>
              <a:ahLst/>
              <a:cxnLst/>
              <a:rect r="r" b="b" t="t" l="l"/>
              <a:pathLst>
                <a:path h="765304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748411"/>
                  </a:lnTo>
                  <a:cubicBezTo>
                    <a:pt x="1789430" y="757809"/>
                    <a:pt x="1781810" y="765302"/>
                    <a:pt x="177253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772539" y="731520"/>
                  </a:lnTo>
                  <a:lnTo>
                    <a:pt x="1772539" y="748411"/>
                  </a:lnTo>
                  <a:lnTo>
                    <a:pt x="1755648" y="748411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182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14400" y="6547104"/>
            <a:ext cx="1316736" cy="548640"/>
            <a:chOff x="0" y="0"/>
            <a:chExt cx="1755648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340864" y="6583680"/>
            <a:ext cx="5998464" cy="512064"/>
            <a:chOff x="0" y="0"/>
            <a:chExt cx="7997952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79979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Scored + validated opportunities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01703" y="7174487"/>
            <a:ext cx="1342139" cy="574043"/>
            <a:chOff x="0" y="0"/>
            <a:chExt cx="1789519" cy="76539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789430" cy="765304"/>
            </a:xfrm>
            <a:custGeom>
              <a:avLst/>
              <a:gdLst/>
              <a:ahLst/>
              <a:cxnLst/>
              <a:rect r="r" b="b" t="t" l="l"/>
              <a:pathLst>
                <a:path h="765304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748411"/>
                  </a:lnTo>
                  <a:cubicBezTo>
                    <a:pt x="1789430" y="757809"/>
                    <a:pt x="1781810" y="765302"/>
                    <a:pt x="177253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772539" y="731520"/>
                  </a:lnTo>
                  <a:lnTo>
                    <a:pt x="1772539" y="748411"/>
                  </a:lnTo>
                  <a:lnTo>
                    <a:pt x="1755648" y="748411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182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" y="7187184"/>
            <a:ext cx="1316736" cy="548640"/>
            <a:chOff x="0" y="0"/>
            <a:chExt cx="1755648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340864" y="7223760"/>
            <a:ext cx="5998464" cy="512064"/>
            <a:chOff x="0" y="0"/>
            <a:chExt cx="7997952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79979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Executive summary + roadmap + tech stack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01703" y="7814567"/>
            <a:ext cx="1342139" cy="574043"/>
            <a:chOff x="0" y="0"/>
            <a:chExt cx="1789519" cy="7653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789430" cy="765304"/>
            </a:xfrm>
            <a:custGeom>
              <a:avLst/>
              <a:gdLst/>
              <a:ahLst/>
              <a:cxnLst/>
              <a:rect r="r" b="b" t="t" l="l"/>
              <a:pathLst>
                <a:path h="765304" w="1789430">
                  <a:moveTo>
                    <a:pt x="16891" y="0"/>
                  </a:moveTo>
                  <a:lnTo>
                    <a:pt x="1772539" y="0"/>
                  </a:lnTo>
                  <a:cubicBezTo>
                    <a:pt x="1781937" y="0"/>
                    <a:pt x="1789430" y="7620"/>
                    <a:pt x="1789430" y="16891"/>
                  </a:cubicBezTo>
                  <a:lnTo>
                    <a:pt x="1789430" y="748411"/>
                  </a:lnTo>
                  <a:cubicBezTo>
                    <a:pt x="1789430" y="757809"/>
                    <a:pt x="1781810" y="765302"/>
                    <a:pt x="177253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772539" y="731520"/>
                  </a:lnTo>
                  <a:lnTo>
                    <a:pt x="1772539" y="748411"/>
                  </a:lnTo>
                  <a:lnTo>
                    <a:pt x="1755648" y="748411"/>
                  </a:lnTo>
                  <a:lnTo>
                    <a:pt x="1755648" y="16891"/>
                  </a:lnTo>
                  <a:lnTo>
                    <a:pt x="1772539" y="16891"/>
                  </a:lnTo>
                  <a:lnTo>
                    <a:pt x="17725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182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14400" y="7827264"/>
            <a:ext cx="1316736" cy="548640"/>
            <a:chOff x="0" y="0"/>
            <a:chExt cx="1755648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55648" cy="731520"/>
            </a:xfrm>
            <a:custGeom>
              <a:avLst/>
              <a:gdLst/>
              <a:ahLst/>
              <a:cxnLst/>
              <a:rect r="r" b="b" t="t" l="l"/>
              <a:pathLst>
                <a:path h="73152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5564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340864" y="7863840"/>
            <a:ext cx="5998464" cy="512064"/>
            <a:chOff x="0" y="0"/>
            <a:chExt cx="7997952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997952" cy="682752"/>
            </a:xfrm>
            <a:custGeom>
              <a:avLst/>
              <a:gdLst/>
              <a:ahLst/>
              <a:cxnLst/>
              <a:rect r="r" b="b" t="t" l="l"/>
              <a:pathLst>
                <a:path h="682752" w="7997952">
                  <a:moveTo>
                    <a:pt x="0" y="0"/>
                  </a:moveTo>
                  <a:lnTo>
                    <a:pt x="7997952" y="0"/>
                  </a:lnTo>
                  <a:lnTo>
                    <a:pt x="79979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79979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Narrative JSON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497063" y="1523495"/>
            <a:ext cx="8072123" cy="4085339"/>
            <a:chOff x="0" y="0"/>
            <a:chExt cx="10762831" cy="544711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0728960" cy="5413248"/>
            </a:xfrm>
            <a:custGeom>
              <a:avLst/>
              <a:gdLst/>
              <a:ahLst/>
              <a:cxnLst/>
              <a:rect r="r" b="b" t="t" l="l"/>
              <a:pathLst>
                <a:path h="54132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5413248"/>
                  </a:lnTo>
                  <a:lnTo>
                    <a:pt x="0" y="5413248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762742" cy="5447030"/>
            </a:xfrm>
            <a:custGeom>
              <a:avLst/>
              <a:gdLst/>
              <a:ahLst/>
              <a:cxnLst/>
              <a:rect r="r" b="b" t="t" l="l"/>
              <a:pathLst>
                <a:path h="5447030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5430139"/>
                  </a:lnTo>
                  <a:cubicBezTo>
                    <a:pt x="10762742" y="5439537"/>
                    <a:pt x="10755122" y="5447030"/>
                    <a:pt x="10745851" y="5447030"/>
                  </a:cubicBezTo>
                  <a:lnTo>
                    <a:pt x="16891" y="5447030"/>
                  </a:lnTo>
                  <a:cubicBezTo>
                    <a:pt x="7493" y="5447030"/>
                    <a:pt x="0" y="5439410"/>
                    <a:pt x="0" y="54301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430139"/>
                  </a:lnTo>
                  <a:lnTo>
                    <a:pt x="16891" y="5430139"/>
                  </a:lnTo>
                  <a:lnTo>
                    <a:pt x="16891" y="5413248"/>
                  </a:lnTo>
                  <a:lnTo>
                    <a:pt x="10745851" y="5413248"/>
                  </a:lnTo>
                  <a:lnTo>
                    <a:pt x="10745851" y="5430139"/>
                  </a:lnTo>
                  <a:lnTo>
                    <a:pt x="10728960" y="543013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97063" y="1523495"/>
            <a:ext cx="8072123" cy="1086107"/>
            <a:chOff x="0" y="0"/>
            <a:chExt cx="10762831" cy="144814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72896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762742" cy="1448054"/>
            </a:xfrm>
            <a:custGeom>
              <a:avLst/>
              <a:gdLst/>
              <a:ahLst/>
              <a:cxnLst/>
              <a:rect r="r" b="b" t="t" l="l"/>
              <a:pathLst>
                <a:path h="144805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31163"/>
                  </a:lnTo>
                  <a:cubicBezTo>
                    <a:pt x="10762742" y="1440561"/>
                    <a:pt x="10755122" y="1448054"/>
                    <a:pt x="10745851" y="1448054"/>
                  </a:cubicBezTo>
                  <a:lnTo>
                    <a:pt x="16891" y="1448054"/>
                  </a:lnTo>
                  <a:cubicBezTo>
                    <a:pt x="7493" y="1448054"/>
                    <a:pt x="0" y="1440434"/>
                    <a:pt x="0" y="14311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31163"/>
                  </a:lnTo>
                  <a:lnTo>
                    <a:pt x="16891" y="1431163"/>
                  </a:lnTo>
                  <a:lnTo>
                    <a:pt x="16891" y="1414272"/>
                  </a:lnTo>
                  <a:lnTo>
                    <a:pt x="10745851" y="1414272"/>
                  </a:lnTo>
                  <a:lnTo>
                    <a:pt x="10745851" y="1431163"/>
                  </a:lnTo>
                  <a:lnTo>
                    <a:pt x="10728960" y="1431163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497063" y="1523495"/>
            <a:ext cx="8072123" cy="116843"/>
            <a:chOff x="0" y="0"/>
            <a:chExt cx="10762831" cy="15579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16891" y="16891"/>
              <a:ext cx="10728960" cy="121920"/>
            </a:xfrm>
            <a:custGeom>
              <a:avLst/>
              <a:gdLst/>
              <a:ahLst/>
              <a:cxnLst/>
              <a:rect r="r" b="b" t="t" l="l"/>
              <a:pathLst>
                <a:path h="121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762742" cy="155704"/>
            </a:xfrm>
            <a:custGeom>
              <a:avLst/>
              <a:gdLst/>
              <a:ahLst/>
              <a:cxnLst/>
              <a:rect r="r" b="b" t="t" l="l"/>
              <a:pathLst>
                <a:path h="15570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38811"/>
                  </a:lnTo>
                  <a:cubicBezTo>
                    <a:pt x="10762742" y="148209"/>
                    <a:pt x="10755122" y="155702"/>
                    <a:pt x="1074585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745851" y="121920"/>
                  </a:lnTo>
                  <a:lnTo>
                    <a:pt x="10745851" y="138811"/>
                  </a:lnTo>
                  <a:lnTo>
                    <a:pt x="10728960" y="1388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784080" y="1645920"/>
            <a:ext cx="731520" cy="731520"/>
            <a:chOff x="0" y="0"/>
            <a:chExt cx="975360" cy="975360"/>
          </a:xfrm>
        </p:grpSpPr>
        <p:sp>
          <p:nvSpPr>
            <p:cNvPr name="Freeform 114" id="114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716768" y="1609344"/>
            <a:ext cx="6583680" cy="475488"/>
            <a:chOff x="0" y="0"/>
            <a:chExt cx="8778240" cy="63398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778240" cy="633984"/>
            </a:xfrm>
            <a:custGeom>
              <a:avLst/>
              <a:gdLst/>
              <a:ahLst/>
              <a:cxnLst/>
              <a:rect r="r" b="b" t="t" l="l"/>
              <a:pathLst>
                <a:path h="6339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877824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100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AMAZON TITAN EMBEDDINGS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0716768" y="2084832"/>
            <a:ext cx="6583680" cy="402336"/>
            <a:chOff x="0" y="0"/>
            <a:chExt cx="8778240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778240" cy="536448"/>
            </a:xfrm>
            <a:custGeom>
              <a:avLst/>
              <a:gdLst/>
              <a:ahLst/>
              <a:cxnLst/>
              <a:rect r="r" b="b" t="t" l="l"/>
              <a:pathLst>
                <a:path h="536448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8778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amazon.titan-embed-text-v1  ·  1536 dimensions  ·  Called once per assessment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679943" y="2895095"/>
            <a:ext cx="171707" cy="171707"/>
            <a:chOff x="0" y="0"/>
            <a:chExt cx="228943" cy="228943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985248" y="2706624"/>
            <a:ext cx="7278624" cy="548640"/>
            <a:chOff x="0" y="0"/>
            <a:chExt cx="9704832" cy="73152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704832" cy="731520"/>
            </a:xfrm>
            <a:custGeom>
              <a:avLst/>
              <a:gdLst/>
              <a:ahLst/>
              <a:cxnLst/>
              <a:rect r="r" b="b" t="t" l="l"/>
              <a:pathLst>
                <a:path h="731520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01" r="0" b="-20850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97048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Pre-embeds 8 AI category strings at startup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679943" y="3480311"/>
            <a:ext cx="171707" cy="171707"/>
            <a:chOff x="0" y="0"/>
            <a:chExt cx="228943" cy="22894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985248" y="3291840"/>
            <a:ext cx="7278624" cy="548640"/>
            <a:chOff x="0" y="0"/>
            <a:chExt cx="9704832" cy="73152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704832" cy="731520"/>
            </a:xfrm>
            <a:custGeom>
              <a:avLst/>
              <a:gdLst/>
              <a:ahLst/>
              <a:cxnLst/>
              <a:rect r="r" b="b" t="t" l="l"/>
              <a:pathLst>
                <a:path h="731520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01" r="0" b="-20850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97048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Embeds process descriptions at runtime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679943" y="4065527"/>
            <a:ext cx="171707" cy="171707"/>
            <a:chOff x="0" y="0"/>
            <a:chExt cx="228943" cy="22894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985248" y="3877056"/>
            <a:ext cx="7278624" cy="548640"/>
            <a:chOff x="0" y="0"/>
            <a:chExt cx="9704832" cy="73152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704832" cy="731520"/>
            </a:xfrm>
            <a:custGeom>
              <a:avLst/>
              <a:gdLst/>
              <a:ahLst/>
              <a:cxnLst/>
              <a:rect r="r" b="b" t="t" l="l"/>
              <a:pathLst>
                <a:path h="731520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01" r="0" b="-208501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97048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Cosine similarity validates Claude's category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679943" y="4650743"/>
            <a:ext cx="171707" cy="171707"/>
            <a:chOff x="0" y="0"/>
            <a:chExt cx="228943" cy="228943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16891" y="16891"/>
              <a:ext cx="195072" cy="195072"/>
            </a:xfrm>
            <a:custGeom>
              <a:avLst/>
              <a:gdLst/>
              <a:ahLst/>
              <a:cxnLst/>
              <a:rect r="r" b="b" t="t" l="l"/>
              <a:pathLst>
                <a:path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8854" cy="228854"/>
            </a:xfrm>
            <a:custGeom>
              <a:avLst/>
              <a:gdLst/>
              <a:ahLst/>
              <a:cxnLst/>
              <a:rect r="r" b="b" t="t" l="l"/>
              <a:pathLst>
                <a:path h="228854" w="228854">
                  <a:moveTo>
                    <a:pt x="0" y="114427"/>
                  </a:moveTo>
                  <a:cubicBezTo>
                    <a:pt x="0" y="51308"/>
                    <a:pt x="51308" y="0"/>
                    <a:pt x="114427" y="0"/>
                  </a:cubicBezTo>
                  <a:lnTo>
                    <a:pt x="114427" y="16891"/>
                  </a:lnTo>
                  <a:lnTo>
                    <a:pt x="114427" y="0"/>
                  </a:lnTo>
                  <a:cubicBezTo>
                    <a:pt x="177673" y="0"/>
                    <a:pt x="228854" y="51308"/>
                    <a:pt x="228854" y="114427"/>
                  </a:cubicBezTo>
                  <a:cubicBezTo>
                    <a:pt x="228854" y="177673"/>
                    <a:pt x="177546" y="228854"/>
                    <a:pt x="114427" y="228854"/>
                  </a:cubicBezTo>
                  <a:lnTo>
                    <a:pt x="114427" y="211963"/>
                  </a:lnTo>
                  <a:lnTo>
                    <a:pt x="114427" y="228854"/>
                  </a:lnTo>
                  <a:cubicBezTo>
                    <a:pt x="51308" y="228981"/>
                    <a:pt x="0" y="177673"/>
                    <a:pt x="0" y="114427"/>
                  </a:cubicBezTo>
                  <a:lnTo>
                    <a:pt x="16891" y="114427"/>
                  </a:lnTo>
                  <a:lnTo>
                    <a:pt x="31623" y="122682"/>
                  </a:lnTo>
                  <a:cubicBezTo>
                    <a:pt x="27813" y="129413"/>
                    <a:pt x="20066" y="132715"/>
                    <a:pt x="12573" y="130810"/>
                  </a:cubicBezTo>
                  <a:cubicBezTo>
                    <a:pt x="5080" y="128905"/>
                    <a:pt x="0" y="122174"/>
                    <a:pt x="0" y="114427"/>
                  </a:cubicBezTo>
                  <a:moveTo>
                    <a:pt x="33909" y="114427"/>
                  </a:moveTo>
                  <a:lnTo>
                    <a:pt x="16891" y="114427"/>
                  </a:lnTo>
                  <a:lnTo>
                    <a:pt x="2159" y="106172"/>
                  </a:lnTo>
                  <a:cubicBezTo>
                    <a:pt x="5969" y="99441"/>
                    <a:pt x="13716" y="96139"/>
                    <a:pt x="21209" y="98044"/>
                  </a:cubicBezTo>
                  <a:cubicBezTo>
                    <a:pt x="28702" y="99949"/>
                    <a:pt x="33909" y="106680"/>
                    <a:pt x="33909" y="114427"/>
                  </a:cubicBezTo>
                  <a:cubicBezTo>
                    <a:pt x="33909" y="159004"/>
                    <a:pt x="69977" y="195072"/>
                    <a:pt x="114554" y="195072"/>
                  </a:cubicBezTo>
                  <a:cubicBezTo>
                    <a:pt x="159131" y="195072"/>
                    <a:pt x="195199" y="159004"/>
                    <a:pt x="195199" y="114427"/>
                  </a:cubicBezTo>
                  <a:lnTo>
                    <a:pt x="212090" y="114427"/>
                  </a:lnTo>
                  <a:lnTo>
                    <a:pt x="195199" y="114427"/>
                  </a:lnTo>
                  <a:cubicBezTo>
                    <a:pt x="195199" y="69850"/>
                    <a:pt x="159131" y="33782"/>
                    <a:pt x="114554" y="33782"/>
                  </a:cubicBezTo>
                  <a:lnTo>
                    <a:pt x="114554" y="16891"/>
                  </a:lnTo>
                  <a:lnTo>
                    <a:pt x="114554" y="33909"/>
                  </a:lnTo>
                  <a:cubicBezTo>
                    <a:pt x="69977" y="33909"/>
                    <a:pt x="33909" y="69977"/>
                    <a:pt x="33909" y="114554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985248" y="4462272"/>
            <a:ext cx="7278624" cy="548640"/>
            <a:chOff x="0" y="0"/>
            <a:chExt cx="9704832" cy="7315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704832" cy="731520"/>
            </a:xfrm>
            <a:custGeom>
              <a:avLst/>
              <a:gdLst/>
              <a:ahLst/>
              <a:cxnLst/>
              <a:rect r="r" b="b" t="t" l="l"/>
              <a:pathLst>
                <a:path h="731520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8501" r="0" b="-208501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970483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Acts as semantic double-check, not primary AI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9497063" y="5876039"/>
            <a:ext cx="8072123" cy="3628139"/>
            <a:chOff x="0" y="0"/>
            <a:chExt cx="10762831" cy="4837519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16891" y="16891"/>
              <a:ext cx="10728960" cy="4803648"/>
            </a:xfrm>
            <a:custGeom>
              <a:avLst/>
              <a:gdLst/>
              <a:ahLst/>
              <a:cxnLst/>
              <a:rect r="r" b="b" t="t" l="l"/>
              <a:pathLst>
                <a:path h="480364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4803648"/>
                  </a:lnTo>
                  <a:lnTo>
                    <a:pt x="0" y="4803648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0762742" cy="4837430"/>
            </a:xfrm>
            <a:custGeom>
              <a:avLst/>
              <a:gdLst/>
              <a:ahLst/>
              <a:cxnLst/>
              <a:rect r="r" b="b" t="t" l="l"/>
              <a:pathLst>
                <a:path h="4837430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4820539"/>
                  </a:lnTo>
                  <a:cubicBezTo>
                    <a:pt x="10762742" y="4829937"/>
                    <a:pt x="10755122" y="4837430"/>
                    <a:pt x="10745851" y="4837430"/>
                  </a:cubicBezTo>
                  <a:lnTo>
                    <a:pt x="16891" y="4837430"/>
                  </a:lnTo>
                  <a:cubicBezTo>
                    <a:pt x="7493" y="4837430"/>
                    <a:pt x="0" y="4829810"/>
                    <a:pt x="0" y="4820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20539"/>
                  </a:lnTo>
                  <a:lnTo>
                    <a:pt x="16891" y="4820539"/>
                  </a:lnTo>
                  <a:lnTo>
                    <a:pt x="16891" y="4803648"/>
                  </a:lnTo>
                  <a:lnTo>
                    <a:pt x="10745851" y="4803648"/>
                  </a:lnTo>
                  <a:lnTo>
                    <a:pt x="10745851" y="4820539"/>
                  </a:lnTo>
                  <a:lnTo>
                    <a:pt x="10728960" y="482053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97063" y="5876039"/>
            <a:ext cx="8072123" cy="866651"/>
            <a:chOff x="0" y="0"/>
            <a:chExt cx="10762831" cy="1155535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16891" y="16891"/>
              <a:ext cx="1072896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762742" cy="1155448"/>
            </a:xfrm>
            <a:custGeom>
              <a:avLst/>
              <a:gdLst/>
              <a:ahLst/>
              <a:cxnLst/>
              <a:rect r="r" b="b" t="t" l="l"/>
              <a:pathLst>
                <a:path h="1155448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138555"/>
                  </a:lnTo>
                  <a:cubicBezTo>
                    <a:pt x="10762742" y="1147953"/>
                    <a:pt x="10755122" y="1155446"/>
                    <a:pt x="1074585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0745851" y="1121664"/>
                  </a:lnTo>
                  <a:lnTo>
                    <a:pt x="10745851" y="1138555"/>
                  </a:lnTo>
                  <a:lnTo>
                    <a:pt x="10728960" y="1138555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97063" y="5876039"/>
            <a:ext cx="8072123" cy="116843"/>
            <a:chOff x="0" y="0"/>
            <a:chExt cx="10762831" cy="15579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16891" y="16891"/>
              <a:ext cx="10728960" cy="121920"/>
            </a:xfrm>
            <a:custGeom>
              <a:avLst/>
              <a:gdLst/>
              <a:ahLst/>
              <a:cxnLst/>
              <a:rect r="r" b="b" t="t" l="l"/>
              <a:pathLst>
                <a:path h="1219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4D399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0762742" cy="155704"/>
            </a:xfrm>
            <a:custGeom>
              <a:avLst/>
              <a:gdLst/>
              <a:ahLst/>
              <a:cxnLst/>
              <a:rect r="r" b="b" t="t" l="l"/>
              <a:pathLst>
                <a:path h="155704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38811"/>
                  </a:lnTo>
                  <a:cubicBezTo>
                    <a:pt x="10762742" y="148209"/>
                    <a:pt x="10755122" y="155702"/>
                    <a:pt x="1074585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745851" y="121920"/>
                  </a:lnTo>
                  <a:lnTo>
                    <a:pt x="10745851" y="138811"/>
                  </a:lnTo>
                  <a:lnTo>
                    <a:pt x="10728960" y="1388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4D399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692640" y="5961888"/>
            <a:ext cx="7680960" cy="694944"/>
            <a:chOff x="0" y="0"/>
            <a:chExt cx="10241280" cy="926592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02412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102412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COMPLEXITY SCORER  ·  Pure Python — No AI Call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9613135" y="6796783"/>
            <a:ext cx="2573017" cy="561337"/>
            <a:chOff x="0" y="0"/>
            <a:chExt cx="3430689" cy="748449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8509" y="8509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430778" cy="748538"/>
            </a:xfrm>
            <a:custGeom>
              <a:avLst/>
              <a:gdLst/>
              <a:ahLst/>
              <a:cxnLst/>
              <a:rect r="r" b="b" t="t" l="l"/>
              <a:pathLst>
                <a:path h="74853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740029"/>
                  </a:lnTo>
                  <a:cubicBezTo>
                    <a:pt x="3430778" y="744728"/>
                    <a:pt x="3426968" y="748538"/>
                    <a:pt x="34222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3422269" y="731520"/>
                  </a:lnTo>
                  <a:lnTo>
                    <a:pt x="3422269" y="740029"/>
                  </a:lnTo>
                  <a:lnTo>
                    <a:pt x="3413760" y="74002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9619488" y="6803136"/>
            <a:ext cx="2560320" cy="548640"/>
            <a:chOff x="0" y="0"/>
            <a:chExt cx="3413760" cy="73152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Axis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2246607" y="6796783"/>
            <a:ext cx="1658617" cy="561337"/>
            <a:chOff x="0" y="0"/>
            <a:chExt cx="2211489" cy="748449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2252960" y="6803136"/>
            <a:ext cx="1645920" cy="548640"/>
            <a:chOff x="0" y="0"/>
            <a:chExt cx="2194560" cy="73152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3965679" y="6796783"/>
            <a:ext cx="1658617" cy="561337"/>
            <a:chOff x="0" y="0"/>
            <a:chExt cx="2211489" cy="748449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972032" y="6803136"/>
            <a:ext cx="1645920" cy="548640"/>
            <a:chOff x="0" y="0"/>
            <a:chExt cx="2194560" cy="73152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Medium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5684751" y="6796783"/>
            <a:ext cx="1658617" cy="561337"/>
            <a:chOff x="0" y="0"/>
            <a:chExt cx="2211489" cy="748449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15691104" y="6803136"/>
            <a:ext cx="1645920" cy="548640"/>
            <a:chOff x="0" y="0"/>
            <a:chExt cx="2194560" cy="73152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80" id="180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9613135" y="7345423"/>
            <a:ext cx="2573017" cy="561337"/>
            <a:chOff x="0" y="0"/>
            <a:chExt cx="3430689" cy="748449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8509" y="8509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3430778" cy="748538"/>
            </a:xfrm>
            <a:custGeom>
              <a:avLst/>
              <a:gdLst/>
              <a:ahLst/>
              <a:cxnLst/>
              <a:rect r="r" b="b" t="t" l="l"/>
              <a:pathLst>
                <a:path h="74853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740029"/>
                  </a:lnTo>
                  <a:cubicBezTo>
                    <a:pt x="3430778" y="744728"/>
                    <a:pt x="3426968" y="748538"/>
                    <a:pt x="34222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3422269" y="731520"/>
                  </a:lnTo>
                  <a:lnTo>
                    <a:pt x="3422269" y="740029"/>
                  </a:lnTo>
                  <a:lnTo>
                    <a:pt x="3413760" y="74002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84" id="184"/>
          <p:cNvGrpSpPr/>
          <p:nvPr/>
        </p:nvGrpSpPr>
        <p:grpSpPr>
          <a:xfrm rot="0">
            <a:off x="9619488" y="7351776"/>
            <a:ext cx="2560320" cy="548640"/>
            <a:chOff x="0" y="0"/>
            <a:chExt cx="3413760" cy="73152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86" id="186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Availability</a:t>
              </a: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12246607" y="7345423"/>
            <a:ext cx="1658617" cy="561337"/>
            <a:chOff x="0" y="0"/>
            <a:chExt cx="2211489" cy="748449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90" id="190"/>
          <p:cNvGrpSpPr/>
          <p:nvPr/>
        </p:nvGrpSpPr>
        <p:grpSpPr>
          <a:xfrm rot="0">
            <a:off x="12252960" y="7351776"/>
            <a:ext cx="1645920" cy="548640"/>
            <a:chOff x="0" y="0"/>
            <a:chExt cx="2194560" cy="73152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92" id="192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</a:t>
              </a:r>
            </a:p>
          </p:txBody>
        </p:sp>
      </p:grpSp>
      <p:grpSp>
        <p:nvGrpSpPr>
          <p:cNvPr name="Group 193" id="193"/>
          <p:cNvGrpSpPr/>
          <p:nvPr/>
        </p:nvGrpSpPr>
        <p:grpSpPr>
          <a:xfrm rot="0">
            <a:off x="13965679" y="7345423"/>
            <a:ext cx="1658617" cy="561337"/>
            <a:chOff x="0" y="0"/>
            <a:chExt cx="2211489" cy="748449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96" id="196"/>
          <p:cNvGrpSpPr/>
          <p:nvPr/>
        </p:nvGrpSpPr>
        <p:grpSpPr>
          <a:xfrm rot="0">
            <a:off x="13972032" y="7351776"/>
            <a:ext cx="1645920" cy="548640"/>
            <a:chOff x="0" y="0"/>
            <a:chExt cx="2194560" cy="73152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98" id="198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Partial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5684751" y="7345423"/>
            <a:ext cx="1658617" cy="561337"/>
            <a:chOff x="0" y="0"/>
            <a:chExt cx="2211489" cy="748449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02" id="202"/>
          <p:cNvGrpSpPr/>
          <p:nvPr/>
        </p:nvGrpSpPr>
        <p:grpSpPr>
          <a:xfrm rot="0">
            <a:off x="15691104" y="7351776"/>
            <a:ext cx="1645920" cy="548640"/>
            <a:chOff x="0" y="0"/>
            <a:chExt cx="2194560" cy="731520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04" id="204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None</a:t>
              </a:r>
            </a:p>
          </p:txBody>
        </p:sp>
      </p:grpSp>
      <p:grpSp>
        <p:nvGrpSpPr>
          <p:cNvPr name="Group 205" id="205"/>
          <p:cNvGrpSpPr/>
          <p:nvPr/>
        </p:nvGrpSpPr>
        <p:grpSpPr>
          <a:xfrm rot="0">
            <a:off x="9613135" y="7894063"/>
            <a:ext cx="2573017" cy="561337"/>
            <a:chOff x="0" y="0"/>
            <a:chExt cx="3430689" cy="748449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8509" y="8509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430778" cy="748538"/>
            </a:xfrm>
            <a:custGeom>
              <a:avLst/>
              <a:gdLst/>
              <a:ahLst/>
              <a:cxnLst/>
              <a:rect r="r" b="b" t="t" l="l"/>
              <a:pathLst>
                <a:path h="74853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740029"/>
                  </a:lnTo>
                  <a:cubicBezTo>
                    <a:pt x="3430778" y="744728"/>
                    <a:pt x="3426968" y="748538"/>
                    <a:pt x="34222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3422269" y="731520"/>
                  </a:lnTo>
                  <a:lnTo>
                    <a:pt x="3422269" y="740029"/>
                  </a:lnTo>
                  <a:lnTo>
                    <a:pt x="3413760" y="74002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9619488" y="7900416"/>
            <a:ext cx="2560320" cy="548640"/>
            <a:chOff x="0" y="0"/>
            <a:chExt cx="3413760" cy="73152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10" id="210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Dep.</a:t>
              </a: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12246607" y="7894063"/>
            <a:ext cx="1658617" cy="561337"/>
            <a:chOff x="0" y="0"/>
            <a:chExt cx="2211489" cy="748449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14" id="214"/>
          <p:cNvGrpSpPr/>
          <p:nvPr/>
        </p:nvGrpSpPr>
        <p:grpSpPr>
          <a:xfrm rot="0">
            <a:off x="12252960" y="7900416"/>
            <a:ext cx="1645920" cy="548640"/>
            <a:chOff x="0" y="0"/>
            <a:chExt cx="2194560" cy="731520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16" id="216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Exists</a:t>
              </a: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13965679" y="7894063"/>
            <a:ext cx="1658617" cy="561337"/>
            <a:chOff x="0" y="0"/>
            <a:chExt cx="2211489" cy="748449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13972032" y="7900416"/>
            <a:ext cx="1645920" cy="548640"/>
            <a:chOff x="0" y="0"/>
            <a:chExt cx="2194560" cy="731520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Connector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15684751" y="7894063"/>
            <a:ext cx="1658617" cy="561337"/>
            <a:chOff x="0" y="0"/>
            <a:chExt cx="2211489" cy="748449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26" id="226"/>
          <p:cNvGrpSpPr/>
          <p:nvPr/>
        </p:nvGrpSpPr>
        <p:grpSpPr>
          <a:xfrm rot="0">
            <a:off x="15691104" y="7900416"/>
            <a:ext cx="1645920" cy="548640"/>
            <a:chOff x="0" y="0"/>
            <a:chExt cx="2194560" cy="731520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 Build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613135" y="8442703"/>
            <a:ext cx="2573017" cy="561337"/>
            <a:chOff x="0" y="0"/>
            <a:chExt cx="3430689" cy="748449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8509" y="8509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3430778" cy="748538"/>
            </a:xfrm>
            <a:custGeom>
              <a:avLst/>
              <a:gdLst/>
              <a:ahLst/>
              <a:cxnLst/>
              <a:rect r="r" b="b" t="t" l="l"/>
              <a:pathLst>
                <a:path h="74853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740029"/>
                  </a:lnTo>
                  <a:cubicBezTo>
                    <a:pt x="3430778" y="744728"/>
                    <a:pt x="3426968" y="748538"/>
                    <a:pt x="34222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3422269" y="731520"/>
                  </a:lnTo>
                  <a:lnTo>
                    <a:pt x="3422269" y="740029"/>
                  </a:lnTo>
                  <a:lnTo>
                    <a:pt x="3413760" y="74002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32" id="232"/>
          <p:cNvGrpSpPr/>
          <p:nvPr/>
        </p:nvGrpSpPr>
        <p:grpSpPr>
          <a:xfrm rot="0">
            <a:off x="9619488" y="8449056"/>
            <a:ext cx="2560320" cy="548640"/>
            <a:chOff x="0" y="0"/>
            <a:chExt cx="3413760" cy="731520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34" id="234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E2E8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Req.</a:t>
              </a:r>
            </a:p>
          </p:txBody>
        </p:sp>
      </p:grpSp>
      <p:grpSp>
        <p:nvGrpSpPr>
          <p:cNvPr name="Group 235" id="235"/>
          <p:cNvGrpSpPr/>
          <p:nvPr/>
        </p:nvGrpSpPr>
        <p:grpSpPr>
          <a:xfrm rot="0">
            <a:off x="12246607" y="8442703"/>
            <a:ext cx="1658617" cy="561337"/>
            <a:chOff x="0" y="0"/>
            <a:chExt cx="2211489" cy="748449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38" id="238"/>
          <p:cNvGrpSpPr/>
          <p:nvPr/>
        </p:nvGrpSpPr>
        <p:grpSpPr>
          <a:xfrm rot="0">
            <a:off x="12252960" y="8449056"/>
            <a:ext cx="1645920" cy="548640"/>
            <a:chOff x="0" y="0"/>
            <a:chExt cx="2194560" cy="731520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40" id="240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Batch OK</a:t>
              </a:r>
            </a:p>
          </p:txBody>
        </p:sp>
      </p:grpSp>
      <p:grpSp>
        <p:nvGrpSpPr>
          <p:cNvPr name="Group 241" id="241"/>
          <p:cNvGrpSpPr/>
          <p:nvPr/>
        </p:nvGrpSpPr>
        <p:grpSpPr>
          <a:xfrm rot="0">
            <a:off x="13965679" y="8442703"/>
            <a:ext cx="1658617" cy="561337"/>
            <a:chOff x="0" y="0"/>
            <a:chExt cx="2211489" cy="748449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13972032" y="8449056"/>
            <a:ext cx="1645920" cy="548640"/>
            <a:chOff x="0" y="0"/>
            <a:chExt cx="2194560" cy="731520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46" id="246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 RT</a:t>
              </a:r>
            </a:p>
          </p:txBody>
        </p:sp>
      </p:grpSp>
      <p:grpSp>
        <p:nvGrpSpPr>
          <p:cNvPr name="Group 247" id="247"/>
          <p:cNvGrpSpPr/>
          <p:nvPr/>
        </p:nvGrpSpPr>
        <p:grpSpPr>
          <a:xfrm rot="0">
            <a:off x="15684751" y="8442703"/>
            <a:ext cx="1658617" cy="561337"/>
            <a:chOff x="0" y="0"/>
            <a:chExt cx="2211489" cy="748449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8509" y="8509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2211578" cy="748538"/>
            </a:xfrm>
            <a:custGeom>
              <a:avLst/>
              <a:gdLst/>
              <a:ahLst/>
              <a:cxnLst/>
              <a:rect r="r" b="b" t="t" l="l"/>
              <a:pathLst>
                <a:path h="748538" w="2211578">
                  <a:moveTo>
                    <a:pt x="8509" y="0"/>
                  </a:moveTo>
                  <a:lnTo>
                    <a:pt x="2203069" y="0"/>
                  </a:lnTo>
                  <a:cubicBezTo>
                    <a:pt x="2207768" y="0"/>
                    <a:pt x="2211578" y="3810"/>
                    <a:pt x="2211578" y="8509"/>
                  </a:cubicBezTo>
                  <a:lnTo>
                    <a:pt x="2211578" y="740029"/>
                  </a:lnTo>
                  <a:cubicBezTo>
                    <a:pt x="2211578" y="744728"/>
                    <a:pt x="2207768" y="748538"/>
                    <a:pt x="2203069" y="748538"/>
                  </a:cubicBezTo>
                  <a:lnTo>
                    <a:pt x="8509" y="748538"/>
                  </a:lnTo>
                  <a:cubicBezTo>
                    <a:pt x="3810" y="748538"/>
                    <a:pt x="0" y="744728"/>
                    <a:pt x="0" y="740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40029"/>
                  </a:lnTo>
                  <a:lnTo>
                    <a:pt x="8509" y="740029"/>
                  </a:lnTo>
                  <a:lnTo>
                    <a:pt x="8509" y="731520"/>
                  </a:lnTo>
                  <a:lnTo>
                    <a:pt x="2203069" y="731520"/>
                  </a:lnTo>
                  <a:lnTo>
                    <a:pt x="2203069" y="740029"/>
                  </a:lnTo>
                  <a:lnTo>
                    <a:pt x="2194560" y="740029"/>
                  </a:lnTo>
                  <a:lnTo>
                    <a:pt x="2194560" y="8509"/>
                  </a:lnTo>
                  <a:lnTo>
                    <a:pt x="2203069" y="8509"/>
                  </a:lnTo>
                  <a:lnTo>
                    <a:pt x="22030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15691104" y="8449056"/>
            <a:ext cx="1645920" cy="548640"/>
            <a:chOff x="0" y="0"/>
            <a:chExt cx="2194560" cy="731520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219456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2" id="252"/>
            <p:cNvSpPr txBox="true"/>
            <p:nvPr/>
          </p:nvSpPr>
          <p:spPr>
            <a:xfrm>
              <a:off x="0" y="-38100"/>
              <a:ext cx="2194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True RT</a:t>
              </a:r>
            </a:p>
          </p:txBody>
        </p:sp>
      </p:grpSp>
      <p:grpSp>
        <p:nvGrpSpPr>
          <p:cNvPr name="Group 253" id="253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55" id="255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256" id="256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 NEW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ASSISTANT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Post-Report Chat — Ask Claude About Your Roadmap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1995" y="1526667"/>
            <a:ext cx="8431530" cy="8029194"/>
            <a:chOff x="0" y="0"/>
            <a:chExt cx="11242040" cy="10705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11216640" cy="10680192"/>
            </a:xfrm>
            <a:custGeom>
              <a:avLst/>
              <a:gdLst/>
              <a:ahLst/>
              <a:cxnLst/>
              <a:rect r="r" b="b" t="t" l="l"/>
              <a:pathLst>
                <a:path h="106801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680192"/>
                  </a:lnTo>
                  <a:lnTo>
                    <a:pt x="0" y="1068019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42040" cy="10705592"/>
            </a:xfrm>
            <a:custGeom>
              <a:avLst/>
              <a:gdLst/>
              <a:ahLst/>
              <a:cxnLst/>
              <a:rect r="r" b="b" t="t" l="l"/>
              <a:pathLst>
                <a:path h="10705592" w="11242040">
                  <a:moveTo>
                    <a:pt x="12700" y="0"/>
                  </a:moveTo>
                  <a:lnTo>
                    <a:pt x="11229340" y="0"/>
                  </a:lnTo>
                  <a:cubicBezTo>
                    <a:pt x="11236325" y="0"/>
                    <a:pt x="11242040" y="5715"/>
                    <a:pt x="11242040" y="12700"/>
                  </a:cubicBezTo>
                  <a:lnTo>
                    <a:pt x="11242040" y="10692892"/>
                  </a:lnTo>
                  <a:cubicBezTo>
                    <a:pt x="11242040" y="10699877"/>
                    <a:pt x="11236325" y="10705592"/>
                    <a:pt x="11229340" y="10705592"/>
                  </a:cubicBezTo>
                  <a:lnTo>
                    <a:pt x="12700" y="10705592"/>
                  </a:lnTo>
                  <a:cubicBezTo>
                    <a:pt x="5715" y="10705592"/>
                    <a:pt x="0" y="10699877"/>
                    <a:pt x="0" y="1069289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692892"/>
                  </a:lnTo>
                  <a:lnTo>
                    <a:pt x="12700" y="10692892"/>
                  </a:lnTo>
                  <a:lnTo>
                    <a:pt x="12700" y="10680192"/>
                  </a:lnTo>
                  <a:lnTo>
                    <a:pt x="11229340" y="10680192"/>
                  </a:lnTo>
                  <a:lnTo>
                    <a:pt x="11229340" y="10692892"/>
                  </a:lnTo>
                  <a:lnTo>
                    <a:pt x="11216640" y="10692892"/>
                  </a:lnTo>
                  <a:lnTo>
                    <a:pt x="11216640" y="12700"/>
                  </a:lnTo>
                  <a:lnTo>
                    <a:pt x="11229340" y="12700"/>
                  </a:lnTo>
                  <a:lnTo>
                    <a:pt x="1122934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8823" y="1523495"/>
            <a:ext cx="135131" cy="8035547"/>
            <a:chOff x="0" y="0"/>
            <a:chExt cx="180175" cy="107140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10680192"/>
            </a:xfrm>
            <a:custGeom>
              <a:avLst/>
              <a:gdLst/>
              <a:ahLst/>
              <a:cxnLst/>
              <a:rect r="r" b="b" t="t" l="l"/>
              <a:pathLst>
                <a:path h="106801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680192"/>
                  </a:lnTo>
                  <a:lnTo>
                    <a:pt x="0" y="10680192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086" cy="10713974"/>
            </a:xfrm>
            <a:custGeom>
              <a:avLst/>
              <a:gdLst/>
              <a:ahLst/>
              <a:cxnLst/>
              <a:rect r="r" b="b" t="t" l="l"/>
              <a:pathLst>
                <a:path h="1071397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0697083"/>
                  </a:lnTo>
                  <a:cubicBezTo>
                    <a:pt x="180086" y="10706481"/>
                    <a:pt x="172466" y="10713974"/>
                    <a:pt x="163195" y="10713974"/>
                  </a:cubicBezTo>
                  <a:lnTo>
                    <a:pt x="16891" y="10713974"/>
                  </a:lnTo>
                  <a:cubicBezTo>
                    <a:pt x="7493" y="10713974"/>
                    <a:pt x="0" y="10706353"/>
                    <a:pt x="0" y="10697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97083"/>
                  </a:lnTo>
                  <a:lnTo>
                    <a:pt x="16891" y="10697083"/>
                  </a:lnTo>
                  <a:lnTo>
                    <a:pt x="16891" y="10680192"/>
                  </a:lnTo>
                  <a:lnTo>
                    <a:pt x="163195" y="10680192"/>
                  </a:lnTo>
                  <a:lnTo>
                    <a:pt x="163195" y="10697083"/>
                  </a:lnTo>
                  <a:lnTo>
                    <a:pt x="146304" y="10697083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11431" y="1816103"/>
            <a:ext cx="939803" cy="939803"/>
            <a:chOff x="0" y="0"/>
            <a:chExt cx="1253071" cy="1253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70432" y="1956816"/>
            <a:ext cx="640080" cy="640080"/>
            <a:chOff x="0" y="0"/>
            <a:chExt cx="853440" cy="85344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231136" y="1773936"/>
            <a:ext cx="6583680" cy="658368"/>
            <a:chOff x="0" y="0"/>
            <a:chExt cx="877824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0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877824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It?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0704" y="2852928"/>
            <a:ext cx="7827264" cy="1554480"/>
            <a:chOff x="0" y="0"/>
            <a:chExt cx="10436352" cy="2072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3635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112" r="0" b="-481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42875"/>
              <a:ext cx="10436352" cy="2215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6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floating chat window that appears on the Results Dashboard after the report is generated. The user can ask Claude anything about their specific report — and Claude answers grounded in the actual report data, not generic AI knowledge.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8007" y="4778759"/>
            <a:ext cx="537467" cy="537467"/>
            <a:chOff x="0" y="0"/>
            <a:chExt cx="716623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60704" y="4791456"/>
            <a:ext cx="512064" cy="512064"/>
            <a:chOff x="0" y="0"/>
            <a:chExt cx="682752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6827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92224" y="4681728"/>
            <a:ext cx="7095744" cy="694944"/>
            <a:chOff x="0" y="0"/>
            <a:chExt cx="9460992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types question in ChatWindow.jsx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8007" y="5546855"/>
            <a:ext cx="537467" cy="537467"/>
            <a:chOff x="0" y="0"/>
            <a:chExt cx="716623" cy="7166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60704" y="5559552"/>
            <a:ext cx="512064" cy="512064"/>
            <a:chOff x="0" y="0"/>
            <a:chExt cx="682752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827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92224" y="5449824"/>
            <a:ext cx="7095744" cy="694944"/>
            <a:chOff x="0" y="0"/>
            <a:chExt cx="9460992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/api/chat/{assessment_id} fires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48007" y="6314951"/>
            <a:ext cx="537467" cy="537467"/>
            <a:chOff x="0" y="0"/>
            <a:chExt cx="716623" cy="7166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60704" y="6327648"/>
            <a:ext cx="512064" cy="512064"/>
            <a:chOff x="0" y="0"/>
            <a:chExt cx="68275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6827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92224" y="6217920"/>
            <a:ext cx="7095744" cy="694944"/>
            <a:chOff x="0" y="0"/>
            <a:chExt cx="9460992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fetches full_report_json from SQLite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48007" y="7083047"/>
            <a:ext cx="537467" cy="537467"/>
            <a:chOff x="0" y="0"/>
            <a:chExt cx="716623" cy="71662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60704" y="7095744"/>
            <a:ext cx="512064" cy="512064"/>
            <a:chOff x="0" y="0"/>
            <a:chExt cx="682752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6827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92224" y="6986016"/>
            <a:ext cx="7095744" cy="694944"/>
            <a:chOff x="0" y="0"/>
            <a:chExt cx="9460992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JSON injected into Claude's system prompt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48007" y="7851143"/>
            <a:ext cx="537467" cy="537467"/>
            <a:chOff x="0" y="0"/>
            <a:chExt cx="716623" cy="71662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60704" y="7863840"/>
            <a:ext cx="512064" cy="512064"/>
            <a:chOff x="0" y="0"/>
            <a:chExt cx="68275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6827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92224" y="7754112"/>
            <a:ext cx="7095744" cy="694944"/>
            <a:chOff x="0" y="0"/>
            <a:chExt cx="9460992" cy="92659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conversation history sent for multi-turn context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48007" y="8619239"/>
            <a:ext cx="537467" cy="537467"/>
            <a:chOff x="0" y="0"/>
            <a:chExt cx="716623" cy="71662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16661" cy="716534"/>
            </a:xfrm>
            <a:custGeom>
              <a:avLst/>
              <a:gdLst/>
              <a:ahLst/>
              <a:cxnLst/>
              <a:rect r="r" b="b" t="t" l="l"/>
              <a:pathLst>
                <a:path h="716534" w="716661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60704" y="8631936"/>
            <a:ext cx="512064" cy="512064"/>
            <a:chOff x="0" y="0"/>
            <a:chExt cx="682752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682752" cy="71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92224" y="8522208"/>
            <a:ext cx="7095744" cy="694944"/>
            <a:chOff x="0" y="0"/>
            <a:chExt cx="9460992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460992" cy="926592"/>
            </a:xfrm>
            <a:custGeom>
              <a:avLst/>
              <a:gdLst/>
              <a:ahLst/>
              <a:cxnLst/>
              <a:rect r="r" b="b" t="t" l="l"/>
              <a:pathLst>
                <a:path h="926592" w="9460992">
                  <a:moveTo>
                    <a:pt x="0" y="0"/>
                  </a:moveTo>
                  <a:lnTo>
                    <a:pt x="9460992" y="0"/>
                  </a:lnTo>
                  <a:lnTo>
                    <a:pt x="94609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952" r="0" b="-14895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4609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answers grounded in the actual report data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79943" y="1523495"/>
            <a:ext cx="7889243" cy="8035547"/>
            <a:chOff x="0" y="0"/>
            <a:chExt cx="10518991" cy="1071406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10485120" cy="10680192"/>
            </a:xfrm>
            <a:custGeom>
              <a:avLst/>
              <a:gdLst/>
              <a:ahLst/>
              <a:cxnLst/>
              <a:rect r="r" b="b" t="t" l="l"/>
              <a:pathLst>
                <a:path h="106801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680192"/>
                  </a:lnTo>
                  <a:lnTo>
                    <a:pt x="0" y="10680192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518901" cy="10713974"/>
            </a:xfrm>
            <a:custGeom>
              <a:avLst/>
              <a:gdLst/>
              <a:ahLst/>
              <a:cxnLst/>
              <a:rect r="r" b="b" t="t" l="l"/>
              <a:pathLst>
                <a:path h="10713974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697083"/>
                  </a:lnTo>
                  <a:cubicBezTo>
                    <a:pt x="10518901" y="10706481"/>
                    <a:pt x="10511282" y="10713974"/>
                    <a:pt x="10502011" y="10713974"/>
                  </a:cubicBezTo>
                  <a:lnTo>
                    <a:pt x="16891" y="10713974"/>
                  </a:lnTo>
                  <a:cubicBezTo>
                    <a:pt x="7493" y="10713974"/>
                    <a:pt x="0" y="10706353"/>
                    <a:pt x="0" y="106970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697083"/>
                  </a:lnTo>
                  <a:lnTo>
                    <a:pt x="16891" y="10697083"/>
                  </a:lnTo>
                  <a:lnTo>
                    <a:pt x="16891" y="10680192"/>
                  </a:lnTo>
                  <a:lnTo>
                    <a:pt x="10502011" y="10680192"/>
                  </a:lnTo>
                  <a:lnTo>
                    <a:pt x="10502011" y="10697083"/>
                  </a:lnTo>
                  <a:lnTo>
                    <a:pt x="10485120" y="10697083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679943" y="1523495"/>
            <a:ext cx="7889243" cy="976379"/>
            <a:chOff x="0" y="0"/>
            <a:chExt cx="10518991" cy="130183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04851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518901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284859"/>
                  </a:lnTo>
                  <a:cubicBezTo>
                    <a:pt x="10518901" y="1294257"/>
                    <a:pt x="10511282" y="1301750"/>
                    <a:pt x="1050201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10502011" y="1267968"/>
                  </a:lnTo>
                  <a:lnTo>
                    <a:pt x="10502011" y="1284859"/>
                  </a:lnTo>
                  <a:lnTo>
                    <a:pt x="10485120" y="128485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972551" y="1797815"/>
            <a:ext cx="281435" cy="281435"/>
            <a:chOff x="0" y="0"/>
            <a:chExt cx="375247" cy="37524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341376" cy="341376"/>
            </a:xfrm>
            <a:custGeom>
              <a:avLst/>
              <a:gdLst/>
              <a:ahLst/>
              <a:cxnLst/>
              <a:rect r="r" b="b" t="t" l="l"/>
              <a:pathLst>
                <a:path h="341376" w="341376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cubicBezTo>
                    <a:pt x="264922" y="0"/>
                    <a:pt x="341376" y="76454"/>
                    <a:pt x="341376" y="170688"/>
                  </a:cubicBezTo>
                  <a:cubicBezTo>
                    <a:pt x="341376" y="264922"/>
                    <a:pt x="265049" y="341376"/>
                    <a:pt x="170688" y="341376"/>
                  </a:cubicBezTo>
                  <a:cubicBezTo>
                    <a:pt x="76327" y="341376"/>
                    <a:pt x="0" y="265049"/>
                    <a:pt x="0" y="170688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75158" cy="375158"/>
            </a:xfrm>
            <a:custGeom>
              <a:avLst/>
              <a:gdLst/>
              <a:ahLst/>
              <a:cxnLst/>
              <a:rect r="r" b="b" t="t" l="l"/>
              <a:pathLst>
                <a:path h="375158" w="375158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187579" y="16891"/>
                  </a:lnTo>
                  <a:lnTo>
                    <a:pt x="187579" y="0"/>
                  </a:lnTo>
                  <a:cubicBezTo>
                    <a:pt x="291211" y="0"/>
                    <a:pt x="375158" y="83947"/>
                    <a:pt x="375158" y="187579"/>
                  </a:cubicBezTo>
                  <a:lnTo>
                    <a:pt x="358267" y="187579"/>
                  </a:lnTo>
                  <a:lnTo>
                    <a:pt x="375158" y="187579"/>
                  </a:lnTo>
                  <a:cubicBezTo>
                    <a:pt x="375158" y="291211"/>
                    <a:pt x="291211" y="375158"/>
                    <a:pt x="187579" y="375158"/>
                  </a:cubicBezTo>
                  <a:lnTo>
                    <a:pt x="187579" y="358267"/>
                  </a:lnTo>
                  <a:lnTo>
                    <a:pt x="187579" y="375158"/>
                  </a:lnTo>
                  <a:cubicBezTo>
                    <a:pt x="83947" y="375285"/>
                    <a:pt x="0" y="291211"/>
                    <a:pt x="0" y="187579"/>
                  </a:cubicBezTo>
                  <a:lnTo>
                    <a:pt x="16891" y="187579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0" y="187579"/>
                  </a:lnTo>
                  <a:moveTo>
                    <a:pt x="33909" y="187579"/>
                  </a:moveTo>
                  <a:cubicBezTo>
                    <a:pt x="33909" y="196977"/>
                    <a:pt x="26289" y="204470"/>
                    <a:pt x="17018" y="204470"/>
                  </a:cubicBezTo>
                  <a:cubicBezTo>
                    <a:pt x="7747" y="204470"/>
                    <a:pt x="0" y="196977"/>
                    <a:pt x="0" y="187579"/>
                  </a:cubicBezTo>
                  <a:cubicBezTo>
                    <a:pt x="0" y="178181"/>
                    <a:pt x="7620" y="170688"/>
                    <a:pt x="16891" y="170688"/>
                  </a:cubicBezTo>
                  <a:cubicBezTo>
                    <a:pt x="26162" y="170688"/>
                    <a:pt x="33782" y="178308"/>
                    <a:pt x="33782" y="187579"/>
                  </a:cubicBezTo>
                  <a:cubicBezTo>
                    <a:pt x="33782" y="272542"/>
                    <a:pt x="102616" y="341376"/>
                    <a:pt x="187579" y="341376"/>
                  </a:cubicBezTo>
                  <a:cubicBezTo>
                    <a:pt x="272542" y="341376"/>
                    <a:pt x="341376" y="272542"/>
                    <a:pt x="341376" y="187579"/>
                  </a:cubicBezTo>
                  <a:cubicBezTo>
                    <a:pt x="341376" y="102616"/>
                    <a:pt x="272542" y="33782"/>
                    <a:pt x="187579" y="33782"/>
                  </a:cubicBezTo>
                  <a:lnTo>
                    <a:pt x="187579" y="16891"/>
                  </a:lnTo>
                  <a:lnTo>
                    <a:pt x="187579" y="33909"/>
                  </a:lnTo>
                  <a:cubicBezTo>
                    <a:pt x="102743" y="33909"/>
                    <a:pt x="33909" y="102743"/>
                    <a:pt x="33909" y="187579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424160" y="1609344"/>
            <a:ext cx="4572000" cy="512064"/>
            <a:chOff x="0" y="0"/>
            <a:chExt cx="609600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096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Report Assistant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424160" y="2121408"/>
            <a:ext cx="5486400" cy="292608"/>
            <a:chOff x="0" y="0"/>
            <a:chExt cx="7315200" cy="39014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0" cy="390144"/>
            </a:xfrm>
            <a:custGeom>
              <a:avLst/>
              <a:gdLst/>
              <a:ahLst/>
              <a:cxnLst/>
              <a:rect r="r" b="b" t="t" l="l"/>
              <a:pathLst>
                <a:path h="3901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73152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3.5 Sonnet  ·  Knows your full report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942319" y="2700271"/>
            <a:ext cx="5864857" cy="1695193"/>
            <a:chOff x="0" y="0"/>
            <a:chExt cx="7819809" cy="226025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7802880" cy="2243328"/>
            </a:xfrm>
            <a:custGeom>
              <a:avLst/>
              <a:gdLst/>
              <a:ahLst/>
              <a:cxnLst/>
              <a:rect r="r" b="b" t="t" l="l"/>
              <a:pathLst>
                <a:path h="2243328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0D1F36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819899" cy="2260346"/>
            </a:xfrm>
            <a:custGeom>
              <a:avLst/>
              <a:gdLst/>
              <a:ahLst/>
              <a:cxnLst/>
              <a:rect r="r" b="b" t="t" l="l"/>
              <a:pathLst>
                <a:path h="2260346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2251837"/>
                  </a:lnTo>
                  <a:cubicBezTo>
                    <a:pt x="7819899" y="2256536"/>
                    <a:pt x="7816088" y="2260346"/>
                    <a:pt x="7811389" y="2260346"/>
                  </a:cubicBezTo>
                  <a:lnTo>
                    <a:pt x="8509" y="2260346"/>
                  </a:lnTo>
                  <a:cubicBezTo>
                    <a:pt x="3810" y="2260346"/>
                    <a:pt x="0" y="2256536"/>
                    <a:pt x="0" y="22518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51837"/>
                  </a:lnTo>
                  <a:lnTo>
                    <a:pt x="8509" y="2251837"/>
                  </a:lnTo>
                  <a:lnTo>
                    <a:pt x="8509" y="2243328"/>
                  </a:lnTo>
                  <a:lnTo>
                    <a:pt x="7811389" y="2243328"/>
                  </a:lnTo>
                  <a:lnTo>
                    <a:pt x="7811389" y="2251837"/>
                  </a:lnTo>
                  <a:lnTo>
                    <a:pt x="7802880" y="2251837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131552" y="2779776"/>
            <a:ext cx="5486400" cy="1536192"/>
            <a:chOff x="0" y="0"/>
            <a:chExt cx="7315200" cy="204825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315200" cy="2048256"/>
            </a:xfrm>
            <a:custGeom>
              <a:avLst/>
              <a:gdLst/>
              <a:ahLst/>
              <a:cxnLst/>
              <a:rect r="r" b="b" t="t" l="l"/>
              <a:pathLst>
                <a:path h="204825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48256"/>
                  </a:lnTo>
                  <a:lnTo>
                    <a:pt x="0" y="20482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589" r="0" b="-1958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85725"/>
              <a:ext cx="7315200" cy="2133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Hi! I've read your full AI Readiness Report. Ask me anything about your opportunities, roadmap, or AWS recommendations.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368783" y="4602223"/>
            <a:ext cx="5864857" cy="817369"/>
            <a:chOff x="0" y="0"/>
            <a:chExt cx="7819809" cy="108982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8509" y="8509"/>
              <a:ext cx="7802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819899" cy="1089914"/>
            </a:xfrm>
            <a:custGeom>
              <a:avLst/>
              <a:gdLst/>
              <a:ahLst/>
              <a:cxnLst/>
              <a:rect r="r" b="b" t="t" l="l"/>
              <a:pathLst>
                <a:path h="1089914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1081405"/>
                  </a:lnTo>
                  <a:cubicBezTo>
                    <a:pt x="7819899" y="1086104"/>
                    <a:pt x="7816088" y="1089914"/>
                    <a:pt x="781138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7811389" y="1072896"/>
                  </a:lnTo>
                  <a:lnTo>
                    <a:pt x="7811389" y="1081405"/>
                  </a:lnTo>
                  <a:lnTo>
                    <a:pt x="7802880" y="1081405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558016" y="4681728"/>
            <a:ext cx="5486400" cy="658368"/>
            <a:chOff x="0" y="0"/>
            <a:chExt cx="7315200" cy="87782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31520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85725"/>
              <a:ext cx="7315200" cy="963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A3E6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What's my easiest quick win?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942319" y="5626351"/>
            <a:ext cx="5864857" cy="2573017"/>
            <a:chOff x="0" y="0"/>
            <a:chExt cx="7819809" cy="343068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8509" y="8509"/>
              <a:ext cx="78028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D1F36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819899" cy="3430778"/>
            </a:xfrm>
            <a:custGeom>
              <a:avLst/>
              <a:gdLst/>
              <a:ahLst/>
              <a:cxnLst/>
              <a:rect r="r" b="b" t="t" l="l"/>
              <a:pathLst>
                <a:path h="3430778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3422269"/>
                  </a:lnTo>
                  <a:cubicBezTo>
                    <a:pt x="7819899" y="3426968"/>
                    <a:pt x="7816088" y="3430778"/>
                    <a:pt x="7811389" y="3430778"/>
                  </a:cubicBezTo>
                  <a:lnTo>
                    <a:pt x="8509" y="3430778"/>
                  </a:lnTo>
                  <a:cubicBezTo>
                    <a:pt x="3810" y="3430778"/>
                    <a:pt x="0" y="3426968"/>
                    <a:pt x="0" y="34222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422269"/>
                  </a:lnTo>
                  <a:lnTo>
                    <a:pt x="8509" y="3422269"/>
                  </a:lnTo>
                  <a:lnTo>
                    <a:pt x="8509" y="3413760"/>
                  </a:lnTo>
                  <a:lnTo>
                    <a:pt x="7811389" y="3413760"/>
                  </a:lnTo>
                  <a:lnTo>
                    <a:pt x="7811389" y="3422269"/>
                  </a:lnTo>
                  <a:lnTo>
                    <a:pt x="7802880" y="3422269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0131552" y="5705856"/>
            <a:ext cx="5486400" cy="2414016"/>
            <a:chOff x="0" y="0"/>
            <a:chExt cx="7315200" cy="321868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315200" cy="3218688"/>
            </a:xfrm>
            <a:custGeom>
              <a:avLst/>
              <a:gdLst/>
              <a:ahLst/>
              <a:cxnLst/>
              <a:rect r="r" b="b" t="t" l="l"/>
              <a:pathLst>
                <a:path h="321868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218688"/>
                  </a:lnTo>
                  <a:lnTo>
                    <a:pt x="0" y="32186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85725"/>
              <a:ext cx="7315200" cy="33044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Invoice Processing is your strongest quick win — impact score 8.5 with Medium complexity. Claude identified it as Document Intelligence, validated by Titan at 92.3% similarity. I'd start there — 6-8 weeks, Amazon Bedrock + Textract.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368783" y="8406127"/>
            <a:ext cx="5864857" cy="817369"/>
            <a:chOff x="0" y="0"/>
            <a:chExt cx="7819809" cy="108982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78028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819899" cy="1089914"/>
            </a:xfrm>
            <a:custGeom>
              <a:avLst/>
              <a:gdLst/>
              <a:ahLst/>
              <a:cxnLst/>
              <a:rect r="r" b="b" t="t" l="l"/>
              <a:pathLst>
                <a:path h="1089914" w="7819899">
                  <a:moveTo>
                    <a:pt x="8509" y="0"/>
                  </a:moveTo>
                  <a:lnTo>
                    <a:pt x="7811389" y="0"/>
                  </a:lnTo>
                  <a:cubicBezTo>
                    <a:pt x="7816088" y="0"/>
                    <a:pt x="7819899" y="3810"/>
                    <a:pt x="7819899" y="8509"/>
                  </a:cubicBezTo>
                  <a:lnTo>
                    <a:pt x="7819899" y="1081405"/>
                  </a:lnTo>
                  <a:cubicBezTo>
                    <a:pt x="7819899" y="1086104"/>
                    <a:pt x="7816088" y="1089914"/>
                    <a:pt x="7811389" y="1089914"/>
                  </a:cubicBezTo>
                  <a:lnTo>
                    <a:pt x="8509" y="1089914"/>
                  </a:lnTo>
                  <a:cubicBezTo>
                    <a:pt x="3810" y="1089914"/>
                    <a:pt x="0" y="1086104"/>
                    <a:pt x="0" y="108140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81405"/>
                  </a:lnTo>
                  <a:lnTo>
                    <a:pt x="8509" y="1081405"/>
                  </a:lnTo>
                  <a:lnTo>
                    <a:pt x="8509" y="1072896"/>
                  </a:lnTo>
                  <a:lnTo>
                    <a:pt x="7811389" y="1072896"/>
                  </a:lnTo>
                  <a:lnTo>
                    <a:pt x="7811389" y="1081405"/>
                  </a:lnTo>
                  <a:lnTo>
                    <a:pt x="7802880" y="1081405"/>
                  </a:lnTo>
                  <a:lnTo>
                    <a:pt x="7802880" y="8509"/>
                  </a:lnTo>
                  <a:lnTo>
                    <a:pt x="7811389" y="8509"/>
                  </a:lnTo>
                  <a:lnTo>
                    <a:pt x="78113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1558016" y="8485632"/>
            <a:ext cx="5486400" cy="658368"/>
            <a:chOff x="0" y="0"/>
            <a:chExt cx="7315200" cy="87782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315200" cy="877824"/>
            </a:xfrm>
            <a:custGeom>
              <a:avLst/>
              <a:gdLst/>
              <a:ahLst/>
              <a:cxnLst/>
              <a:rect r="r" b="b" t="t" l="l"/>
              <a:pathLst>
                <a:path h="87782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85725"/>
              <a:ext cx="7315200" cy="963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>
                  <a:solidFill>
                    <a:srgbClr val="A3E63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is Customer Support Triage scored Medium?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679943" y="8765543"/>
            <a:ext cx="7889243" cy="793499"/>
            <a:chOff x="0" y="0"/>
            <a:chExt cx="10518991" cy="105799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0485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518901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041019"/>
                  </a:lnTo>
                  <a:cubicBezTo>
                    <a:pt x="10518901" y="1050417"/>
                    <a:pt x="10511282" y="1057910"/>
                    <a:pt x="1050201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502011" y="1024128"/>
                  </a:lnTo>
                  <a:lnTo>
                    <a:pt x="10502011" y="1041019"/>
                  </a:lnTo>
                  <a:lnTo>
                    <a:pt x="10485120" y="1041019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9869167" y="8918191"/>
            <a:ext cx="6047737" cy="488185"/>
            <a:chOff x="0" y="0"/>
            <a:chExt cx="8063649" cy="65091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8046719" cy="633984"/>
            </a:xfrm>
            <a:custGeom>
              <a:avLst/>
              <a:gdLst/>
              <a:ahLst/>
              <a:cxnLst/>
              <a:rect r="r" b="b" t="t" l="l"/>
              <a:pathLst>
                <a:path h="633984" w="8046719">
                  <a:moveTo>
                    <a:pt x="0" y="0"/>
                  </a:moveTo>
                  <a:lnTo>
                    <a:pt x="8046719" y="0"/>
                  </a:lnTo>
                  <a:lnTo>
                    <a:pt x="8046719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063738" cy="651002"/>
            </a:xfrm>
            <a:custGeom>
              <a:avLst/>
              <a:gdLst/>
              <a:ahLst/>
              <a:cxnLst/>
              <a:rect r="r" b="b" t="t" l="l"/>
              <a:pathLst>
                <a:path h="651002" w="8063738">
                  <a:moveTo>
                    <a:pt x="8509" y="0"/>
                  </a:moveTo>
                  <a:lnTo>
                    <a:pt x="8055228" y="0"/>
                  </a:lnTo>
                  <a:cubicBezTo>
                    <a:pt x="8059927" y="0"/>
                    <a:pt x="8063738" y="3810"/>
                    <a:pt x="8063738" y="8509"/>
                  </a:cubicBezTo>
                  <a:lnTo>
                    <a:pt x="8063738" y="642493"/>
                  </a:lnTo>
                  <a:cubicBezTo>
                    <a:pt x="8063738" y="647192"/>
                    <a:pt x="8059927" y="651002"/>
                    <a:pt x="8055228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8055228" y="633984"/>
                  </a:lnTo>
                  <a:lnTo>
                    <a:pt x="8055228" y="642493"/>
                  </a:lnTo>
                  <a:lnTo>
                    <a:pt x="8046720" y="642493"/>
                  </a:lnTo>
                  <a:lnTo>
                    <a:pt x="8046720" y="8509"/>
                  </a:lnTo>
                  <a:lnTo>
                    <a:pt x="8055228" y="8509"/>
                  </a:lnTo>
                  <a:lnTo>
                    <a:pt x="8055228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0058400" y="8961120"/>
            <a:ext cx="5669280" cy="402336"/>
            <a:chOff x="0" y="0"/>
            <a:chExt cx="7559040" cy="53644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559040" cy="536448"/>
            </a:xfrm>
            <a:custGeom>
              <a:avLst/>
              <a:gdLst/>
              <a:ahLst/>
              <a:cxnLst/>
              <a:rect r="r" b="b" t="t" l="l"/>
              <a:pathLst>
                <a:path h="53644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4561" r="0" b="-22456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75590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Ask about your report...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6117319" y="8911847"/>
            <a:ext cx="1214123" cy="500891"/>
            <a:chOff x="0" y="0"/>
            <a:chExt cx="1618831" cy="66785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58496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618742" cy="667768"/>
            </a:xfrm>
            <a:custGeom>
              <a:avLst/>
              <a:gdLst/>
              <a:ahLst/>
              <a:cxnLst/>
              <a:rect r="r" b="b" t="t" l="l"/>
              <a:pathLst>
                <a:path h="667768" w="1618742">
                  <a:moveTo>
                    <a:pt x="16891" y="0"/>
                  </a:moveTo>
                  <a:lnTo>
                    <a:pt x="1601851" y="0"/>
                  </a:lnTo>
                  <a:cubicBezTo>
                    <a:pt x="1611249" y="0"/>
                    <a:pt x="1618742" y="7620"/>
                    <a:pt x="1618742" y="16891"/>
                  </a:cubicBezTo>
                  <a:lnTo>
                    <a:pt x="1618742" y="650875"/>
                  </a:lnTo>
                  <a:cubicBezTo>
                    <a:pt x="1618742" y="660273"/>
                    <a:pt x="1611122" y="667766"/>
                    <a:pt x="1601851" y="667766"/>
                  </a:cubicBezTo>
                  <a:lnTo>
                    <a:pt x="16891" y="667766"/>
                  </a:lnTo>
                  <a:cubicBezTo>
                    <a:pt x="7620" y="667893"/>
                    <a:pt x="0" y="660273"/>
                    <a:pt x="0" y="65087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0875"/>
                  </a:lnTo>
                  <a:lnTo>
                    <a:pt x="16891" y="650875"/>
                  </a:lnTo>
                  <a:lnTo>
                    <a:pt x="16891" y="633984"/>
                  </a:lnTo>
                  <a:lnTo>
                    <a:pt x="1601851" y="633984"/>
                  </a:lnTo>
                  <a:lnTo>
                    <a:pt x="1601851" y="650875"/>
                  </a:lnTo>
                  <a:lnTo>
                    <a:pt x="1584960" y="650875"/>
                  </a:lnTo>
                  <a:lnTo>
                    <a:pt x="1584960" y="16891"/>
                  </a:lnTo>
                  <a:lnTo>
                    <a:pt x="1601851" y="16891"/>
                  </a:lnTo>
                  <a:lnTo>
                    <a:pt x="1601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6130016" y="8924544"/>
            <a:ext cx="1188720" cy="475488"/>
            <a:chOff x="0" y="0"/>
            <a:chExt cx="1584960" cy="633984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584960" cy="633984"/>
            </a:xfrm>
            <a:custGeom>
              <a:avLst/>
              <a:gdLst/>
              <a:ahLst/>
              <a:cxnLst/>
              <a:rect r="r" b="b" t="t" l="l"/>
              <a:pathLst>
                <a:path h="633984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158496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Send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12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LLM CALLS BREAKDOWN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3 guaranteed pipeline calls + N chat calls per user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8823" y="1560071"/>
            <a:ext cx="8437883" cy="3536699"/>
            <a:chOff x="0" y="0"/>
            <a:chExt cx="11250511" cy="4715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50422" cy="4715510"/>
            </a:xfrm>
            <a:custGeom>
              <a:avLst/>
              <a:gdLst/>
              <a:ahLst/>
              <a:cxnLst/>
              <a:rect r="r" b="b" t="t" l="l"/>
              <a:pathLst>
                <a:path h="471551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698619"/>
                  </a:lnTo>
                  <a:cubicBezTo>
                    <a:pt x="11250422" y="4708017"/>
                    <a:pt x="11242802" y="4715510"/>
                    <a:pt x="11233531" y="4715510"/>
                  </a:cubicBezTo>
                  <a:lnTo>
                    <a:pt x="16891" y="4715510"/>
                  </a:lnTo>
                  <a:cubicBezTo>
                    <a:pt x="7493" y="4715510"/>
                    <a:pt x="0" y="4707890"/>
                    <a:pt x="0" y="4698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98619"/>
                  </a:lnTo>
                  <a:lnTo>
                    <a:pt x="16891" y="4698619"/>
                  </a:lnTo>
                  <a:lnTo>
                    <a:pt x="16891" y="4681728"/>
                  </a:lnTo>
                  <a:lnTo>
                    <a:pt x="11233531" y="4681728"/>
                  </a:lnTo>
                  <a:lnTo>
                    <a:pt x="11233531" y="4698619"/>
                  </a:lnTo>
                  <a:lnTo>
                    <a:pt x="11216640" y="46986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8823" y="1560071"/>
            <a:ext cx="8437883" cy="116843"/>
            <a:chOff x="0" y="0"/>
            <a:chExt cx="11250511" cy="1557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1216640" cy="121920"/>
            </a:xfrm>
            <a:custGeom>
              <a:avLst/>
              <a:gdLst/>
              <a:ahLst/>
              <a:cxnLst/>
              <a:rect r="r" b="b" t="t" l="l"/>
              <a:pathLst>
                <a:path h="121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50422" cy="155704"/>
            </a:xfrm>
            <a:custGeom>
              <a:avLst/>
              <a:gdLst/>
              <a:ahLst/>
              <a:cxnLst/>
              <a:rect r="r" b="b" t="t" l="l"/>
              <a:pathLst>
                <a:path h="15570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38811"/>
                  </a:lnTo>
                  <a:cubicBezTo>
                    <a:pt x="11250422" y="148209"/>
                    <a:pt x="11242802" y="155702"/>
                    <a:pt x="1123353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1233531" y="121920"/>
                  </a:lnTo>
                  <a:lnTo>
                    <a:pt x="11233531" y="138811"/>
                  </a:lnTo>
                  <a:lnTo>
                    <a:pt x="11216640" y="138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4855" y="1852679"/>
            <a:ext cx="830075" cy="830075"/>
            <a:chOff x="0" y="0"/>
            <a:chExt cx="1106767" cy="11067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7552" y="1865376"/>
            <a:ext cx="804672" cy="804672"/>
            <a:chOff x="0" y="0"/>
            <a:chExt cx="1072896" cy="1072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011680" y="1828800"/>
            <a:ext cx="2560320" cy="438912"/>
            <a:chOff x="0" y="0"/>
            <a:chExt cx="3413760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13760" cy="585216"/>
            </a:xfrm>
            <a:custGeom>
              <a:avLst/>
              <a:gdLst/>
              <a:ahLst/>
              <a:cxnLst/>
              <a:rect r="r" b="b" t="t" l="l"/>
              <a:pathLst>
                <a:path h="585216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4137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Call 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48527" y="1840735"/>
            <a:ext cx="4145785" cy="451609"/>
            <a:chOff x="0" y="0"/>
            <a:chExt cx="5527713" cy="6021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27802" cy="602234"/>
            </a:xfrm>
            <a:custGeom>
              <a:avLst/>
              <a:gdLst/>
              <a:ahLst/>
              <a:cxnLst/>
              <a:rect r="r" b="b" t="t" l="l"/>
              <a:pathLst>
                <a:path h="602234" w="5527802">
                  <a:moveTo>
                    <a:pt x="8509" y="0"/>
                  </a:moveTo>
                  <a:lnTo>
                    <a:pt x="5519293" y="0"/>
                  </a:lnTo>
                  <a:cubicBezTo>
                    <a:pt x="5523992" y="0"/>
                    <a:pt x="5527802" y="3810"/>
                    <a:pt x="5527802" y="8509"/>
                  </a:cubicBezTo>
                  <a:lnTo>
                    <a:pt x="5527802" y="593725"/>
                  </a:lnTo>
                  <a:cubicBezTo>
                    <a:pt x="5527802" y="598424"/>
                    <a:pt x="5523992" y="602234"/>
                    <a:pt x="551929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5519293" y="585216"/>
                  </a:lnTo>
                  <a:lnTo>
                    <a:pt x="5519293" y="593725"/>
                  </a:lnTo>
                  <a:lnTo>
                    <a:pt x="5510784" y="593725"/>
                  </a:lnTo>
                  <a:lnTo>
                    <a:pt x="5510784" y="8509"/>
                  </a:lnTo>
                  <a:lnTo>
                    <a:pt x="5519293" y="8509"/>
                  </a:lnTo>
                  <a:lnTo>
                    <a:pt x="551929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54880" y="1847088"/>
            <a:ext cx="4133088" cy="438912"/>
            <a:chOff x="0" y="0"/>
            <a:chExt cx="5510784" cy="5852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5107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804930" y="2292344"/>
            <a:ext cx="7680960" cy="365760"/>
            <a:chOff x="0" y="0"/>
            <a:chExt cx="10241280" cy="487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02412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Stage 1 — analysis_engine.py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7552" y="2889504"/>
            <a:ext cx="804672" cy="329184"/>
            <a:chOff x="0" y="0"/>
            <a:chExt cx="1072896" cy="4389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2896" cy="438912"/>
            </a:xfrm>
            <a:custGeom>
              <a:avLst/>
              <a:gdLst/>
              <a:ahLst/>
              <a:cxnLst/>
              <a:rect r="r" b="b" t="t" l="l"/>
              <a:pathLst>
                <a:path h="43891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07289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When: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28800" y="2889504"/>
            <a:ext cx="7022592" cy="329184"/>
            <a:chOff x="0" y="0"/>
            <a:chExt cx="9363456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63456" cy="438912"/>
            </a:xfrm>
            <a:custGeom>
              <a:avLst/>
              <a:gdLst/>
              <a:ahLst/>
              <a:cxnLst/>
              <a:rect r="r" b="b" t="t" l="l"/>
              <a:pathLst>
                <a:path h="438912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5680" r="0" b="-3656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36345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Immediately after form submission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7552" y="3328416"/>
            <a:ext cx="804672" cy="914400"/>
            <a:chOff x="0" y="0"/>
            <a:chExt cx="1072896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2896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99" t="0" r="-9579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072896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Why: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828800" y="3291840"/>
            <a:ext cx="7022592" cy="914400"/>
            <a:chOff x="0" y="0"/>
            <a:chExt cx="9363456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63456" cy="1219200"/>
            </a:xfrm>
            <a:custGeom>
              <a:avLst/>
              <a:gdLst/>
              <a:ahLst/>
              <a:cxnLst/>
              <a:rect r="r" b="b" t="t" l="l"/>
              <a:pathLst>
                <a:path h="1219200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45" r="0" b="-9964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9363456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6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Free-form text requires LLM reasoning. Rule-based parsing cannot understand 'we manually match invoices to POs in Excel'.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1199" y="4419343"/>
            <a:ext cx="7839961" cy="488185"/>
            <a:chOff x="0" y="0"/>
            <a:chExt cx="10453281" cy="65091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8509" y="8509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53370" cy="651002"/>
            </a:xfrm>
            <a:custGeom>
              <a:avLst/>
              <a:gdLst/>
              <a:ahLst/>
              <a:cxnLst/>
              <a:rect r="r" b="b" t="t" l="l"/>
              <a:pathLst>
                <a:path h="651002" w="10453370">
                  <a:moveTo>
                    <a:pt x="8509" y="0"/>
                  </a:moveTo>
                  <a:lnTo>
                    <a:pt x="10444861" y="0"/>
                  </a:lnTo>
                  <a:cubicBezTo>
                    <a:pt x="10449560" y="0"/>
                    <a:pt x="10453370" y="3810"/>
                    <a:pt x="10453370" y="8509"/>
                  </a:cubicBezTo>
                  <a:lnTo>
                    <a:pt x="10453370" y="642493"/>
                  </a:lnTo>
                  <a:cubicBezTo>
                    <a:pt x="10453370" y="647192"/>
                    <a:pt x="10449560" y="651002"/>
                    <a:pt x="10444861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10444861" y="633984"/>
                  </a:lnTo>
                  <a:lnTo>
                    <a:pt x="10444861" y="642493"/>
                  </a:lnTo>
                  <a:lnTo>
                    <a:pt x="10436352" y="642493"/>
                  </a:lnTo>
                  <a:lnTo>
                    <a:pt x="10436352" y="8509"/>
                  </a:lnTo>
                  <a:lnTo>
                    <a:pt x="10444861" y="8509"/>
                  </a:lnTo>
                  <a:lnTo>
                    <a:pt x="1044486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33856" y="4425696"/>
            <a:ext cx="7680960" cy="475488"/>
            <a:chOff x="0" y="0"/>
            <a:chExt cx="10241280" cy="6339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024128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Output: Opportunity List JSON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88503" y="1560071"/>
            <a:ext cx="8437883" cy="3536699"/>
            <a:chOff x="0" y="0"/>
            <a:chExt cx="11250511" cy="471559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250422" cy="4715510"/>
            </a:xfrm>
            <a:custGeom>
              <a:avLst/>
              <a:gdLst/>
              <a:ahLst/>
              <a:cxnLst/>
              <a:rect r="r" b="b" t="t" l="l"/>
              <a:pathLst>
                <a:path h="471551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698619"/>
                  </a:lnTo>
                  <a:cubicBezTo>
                    <a:pt x="11250422" y="4708017"/>
                    <a:pt x="11242802" y="4715510"/>
                    <a:pt x="11233531" y="4715510"/>
                  </a:cubicBezTo>
                  <a:lnTo>
                    <a:pt x="16891" y="4715510"/>
                  </a:lnTo>
                  <a:cubicBezTo>
                    <a:pt x="7493" y="4715510"/>
                    <a:pt x="0" y="4707890"/>
                    <a:pt x="0" y="4698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98619"/>
                  </a:lnTo>
                  <a:lnTo>
                    <a:pt x="16891" y="4698619"/>
                  </a:lnTo>
                  <a:lnTo>
                    <a:pt x="16891" y="4681728"/>
                  </a:lnTo>
                  <a:lnTo>
                    <a:pt x="11233531" y="4681728"/>
                  </a:lnTo>
                  <a:lnTo>
                    <a:pt x="11233531" y="4698619"/>
                  </a:lnTo>
                  <a:lnTo>
                    <a:pt x="11216640" y="46986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88503" y="1560071"/>
            <a:ext cx="8437883" cy="116843"/>
            <a:chOff x="0" y="0"/>
            <a:chExt cx="11250511" cy="15579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11216640" cy="121920"/>
            </a:xfrm>
            <a:custGeom>
              <a:avLst/>
              <a:gdLst/>
              <a:ahLst/>
              <a:cxnLst/>
              <a:rect r="r" b="b" t="t" l="l"/>
              <a:pathLst>
                <a:path h="121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50422" cy="155704"/>
            </a:xfrm>
            <a:custGeom>
              <a:avLst/>
              <a:gdLst/>
              <a:ahLst/>
              <a:cxnLst/>
              <a:rect r="r" b="b" t="t" l="l"/>
              <a:pathLst>
                <a:path h="15570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38811"/>
                  </a:lnTo>
                  <a:cubicBezTo>
                    <a:pt x="11250422" y="148209"/>
                    <a:pt x="11242802" y="155702"/>
                    <a:pt x="1123353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1233531" y="121920"/>
                  </a:lnTo>
                  <a:lnTo>
                    <a:pt x="11233531" y="138811"/>
                  </a:lnTo>
                  <a:lnTo>
                    <a:pt x="11216640" y="138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44535" y="1852679"/>
            <a:ext cx="830075" cy="830075"/>
            <a:chOff x="0" y="0"/>
            <a:chExt cx="1106767" cy="110676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857232" y="1865376"/>
            <a:ext cx="804672" cy="804672"/>
            <a:chOff x="0" y="0"/>
            <a:chExt cx="1072896" cy="10728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881360" y="1828800"/>
            <a:ext cx="2560320" cy="438912"/>
            <a:chOff x="0" y="0"/>
            <a:chExt cx="3413760" cy="5852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13760" cy="585216"/>
            </a:xfrm>
            <a:custGeom>
              <a:avLst/>
              <a:gdLst/>
              <a:ahLst/>
              <a:cxnLst/>
              <a:rect r="r" b="b" t="t" l="l"/>
              <a:pathLst>
                <a:path h="585216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34137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Call 2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618207" y="1840735"/>
            <a:ext cx="4145785" cy="451609"/>
            <a:chOff x="0" y="0"/>
            <a:chExt cx="5527713" cy="60214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527802" cy="602234"/>
            </a:xfrm>
            <a:custGeom>
              <a:avLst/>
              <a:gdLst/>
              <a:ahLst/>
              <a:cxnLst/>
              <a:rect r="r" b="b" t="t" l="l"/>
              <a:pathLst>
                <a:path h="602234" w="5527802">
                  <a:moveTo>
                    <a:pt x="8509" y="0"/>
                  </a:moveTo>
                  <a:lnTo>
                    <a:pt x="5519293" y="0"/>
                  </a:lnTo>
                  <a:cubicBezTo>
                    <a:pt x="5523992" y="0"/>
                    <a:pt x="5527802" y="3810"/>
                    <a:pt x="5527802" y="8509"/>
                  </a:cubicBezTo>
                  <a:lnTo>
                    <a:pt x="5527802" y="593725"/>
                  </a:lnTo>
                  <a:cubicBezTo>
                    <a:pt x="5527802" y="598424"/>
                    <a:pt x="5523992" y="602234"/>
                    <a:pt x="551929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5519293" y="585216"/>
                  </a:lnTo>
                  <a:lnTo>
                    <a:pt x="5519293" y="593725"/>
                  </a:lnTo>
                  <a:lnTo>
                    <a:pt x="5510784" y="593725"/>
                  </a:lnTo>
                  <a:lnTo>
                    <a:pt x="5510784" y="8509"/>
                  </a:lnTo>
                  <a:lnTo>
                    <a:pt x="5519293" y="8509"/>
                  </a:lnTo>
                  <a:lnTo>
                    <a:pt x="551929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624560" y="1847088"/>
            <a:ext cx="4133088" cy="438912"/>
            <a:chOff x="0" y="0"/>
            <a:chExt cx="5510784" cy="58521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55107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Amazon Titan Embed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698480" y="2286000"/>
            <a:ext cx="7680960" cy="365760"/>
            <a:chOff x="0" y="0"/>
            <a:chExt cx="10241280" cy="48768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102412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Stage 2 — embedding_service.py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857232" y="2889504"/>
            <a:ext cx="804672" cy="329184"/>
            <a:chOff x="0" y="0"/>
            <a:chExt cx="1072896" cy="43891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72896" cy="438912"/>
            </a:xfrm>
            <a:custGeom>
              <a:avLst/>
              <a:gdLst/>
              <a:ahLst/>
              <a:cxnLst/>
              <a:rect r="r" b="b" t="t" l="l"/>
              <a:pathLst>
                <a:path h="43891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107289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When: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698480" y="2889504"/>
            <a:ext cx="7022592" cy="329184"/>
            <a:chOff x="0" y="0"/>
            <a:chExt cx="9363456" cy="4389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363456" cy="438912"/>
            </a:xfrm>
            <a:custGeom>
              <a:avLst/>
              <a:gdLst/>
              <a:ahLst/>
              <a:cxnLst/>
              <a:rect r="r" b="b" t="t" l="l"/>
              <a:pathLst>
                <a:path h="438912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5680" r="0" b="-36568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936345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Call 1 completes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857232" y="3328416"/>
            <a:ext cx="804672" cy="914400"/>
            <a:chOff x="0" y="0"/>
            <a:chExt cx="1072896" cy="1219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72896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99" t="0" r="-95799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1072896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Why: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698480" y="3291840"/>
            <a:ext cx="7022592" cy="914400"/>
            <a:chOff x="0" y="0"/>
            <a:chExt cx="9363456" cy="12192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363456" cy="1219200"/>
            </a:xfrm>
            <a:custGeom>
              <a:avLst/>
              <a:gdLst/>
              <a:ahLst/>
              <a:cxnLst/>
              <a:rect r="r" b="b" t="t" l="l"/>
              <a:pathLst>
                <a:path h="1219200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45" r="0" b="-9964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76200"/>
              <a:ext cx="9363456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6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Validates Claude's categorisation via cosine similarity. Embeddings outperform LLMs for pure semantic similarity measurement.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850879" y="4419343"/>
            <a:ext cx="7839961" cy="488185"/>
            <a:chOff x="0" y="0"/>
            <a:chExt cx="10453281" cy="65091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8509" y="8509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453370" cy="651002"/>
            </a:xfrm>
            <a:custGeom>
              <a:avLst/>
              <a:gdLst/>
              <a:ahLst/>
              <a:cxnLst/>
              <a:rect r="r" b="b" t="t" l="l"/>
              <a:pathLst>
                <a:path h="651002" w="10453370">
                  <a:moveTo>
                    <a:pt x="8509" y="0"/>
                  </a:moveTo>
                  <a:lnTo>
                    <a:pt x="10444861" y="0"/>
                  </a:lnTo>
                  <a:cubicBezTo>
                    <a:pt x="10449560" y="0"/>
                    <a:pt x="10453370" y="3810"/>
                    <a:pt x="10453370" y="8509"/>
                  </a:cubicBezTo>
                  <a:lnTo>
                    <a:pt x="10453370" y="642493"/>
                  </a:lnTo>
                  <a:cubicBezTo>
                    <a:pt x="10453370" y="647192"/>
                    <a:pt x="10449560" y="651002"/>
                    <a:pt x="10444861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10444861" y="633984"/>
                  </a:lnTo>
                  <a:lnTo>
                    <a:pt x="10444861" y="642493"/>
                  </a:lnTo>
                  <a:lnTo>
                    <a:pt x="10436352" y="642493"/>
                  </a:lnTo>
                  <a:lnTo>
                    <a:pt x="10436352" y="8509"/>
                  </a:lnTo>
                  <a:lnTo>
                    <a:pt x="10444861" y="8509"/>
                  </a:lnTo>
                  <a:lnTo>
                    <a:pt x="1044486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003536" y="4425696"/>
            <a:ext cx="7680960" cy="475488"/>
            <a:chOff x="0" y="0"/>
            <a:chExt cx="10241280" cy="63398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1024128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Output: Validated categories + similarity scores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718823" y="5400551"/>
            <a:ext cx="8437883" cy="3536699"/>
            <a:chOff x="0" y="0"/>
            <a:chExt cx="11250511" cy="471559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250422" cy="4715510"/>
            </a:xfrm>
            <a:custGeom>
              <a:avLst/>
              <a:gdLst/>
              <a:ahLst/>
              <a:cxnLst/>
              <a:rect r="r" b="b" t="t" l="l"/>
              <a:pathLst>
                <a:path h="471551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698619"/>
                  </a:lnTo>
                  <a:cubicBezTo>
                    <a:pt x="11250422" y="4708017"/>
                    <a:pt x="11242802" y="4715510"/>
                    <a:pt x="11233531" y="4715510"/>
                  </a:cubicBezTo>
                  <a:lnTo>
                    <a:pt x="16891" y="4715510"/>
                  </a:lnTo>
                  <a:cubicBezTo>
                    <a:pt x="7493" y="4715510"/>
                    <a:pt x="0" y="4707890"/>
                    <a:pt x="0" y="4698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98619"/>
                  </a:lnTo>
                  <a:lnTo>
                    <a:pt x="16891" y="4698619"/>
                  </a:lnTo>
                  <a:lnTo>
                    <a:pt x="16891" y="4681728"/>
                  </a:lnTo>
                  <a:lnTo>
                    <a:pt x="11233531" y="4681728"/>
                  </a:lnTo>
                  <a:lnTo>
                    <a:pt x="11233531" y="4698619"/>
                  </a:lnTo>
                  <a:lnTo>
                    <a:pt x="11216640" y="46986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718823" y="5400551"/>
            <a:ext cx="8437883" cy="116843"/>
            <a:chOff x="0" y="0"/>
            <a:chExt cx="11250511" cy="15579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11216640" cy="121920"/>
            </a:xfrm>
            <a:custGeom>
              <a:avLst/>
              <a:gdLst/>
              <a:ahLst/>
              <a:cxnLst/>
              <a:rect r="r" b="b" t="t" l="l"/>
              <a:pathLst>
                <a:path h="121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1250422" cy="155704"/>
            </a:xfrm>
            <a:custGeom>
              <a:avLst/>
              <a:gdLst/>
              <a:ahLst/>
              <a:cxnLst/>
              <a:rect r="r" b="b" t="t" l="l"/>
              <a:pathLst>
                <a:path h="15570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38811"/>
                  </a:lnTo>
                  <a:cubicBezTo>
                    <a:pt x="11250422" y="148209"/>
                    <a:pt x="11242802" y="155702"/>
                    <a:pt x="1123353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1233531" y="121920"/>
                  </a:lnTo>
                  <a:lnTo>
                    <a:pt x="11233531" y="138811"/>
                  </a:lnTo>
                  <a:lnTo>
                    <a:pt x="11216640" y="138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74855" y="5693159"/>
            <a:ext cx="830075" cy="830075"/>
            <a:chOff x="0" y="0"/>
            <a:chExt cx="1106767" cy="110676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87552" y="5705856"/>
            <a:ext cx="804672" cy="804672"/>
            <a:chOff x="0" y="0"/>
            <a:chExt cx="1072896" cy="107289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2011680" y="5669280"/>
            <a:ext cx="2560320" cy="438912"/>
            <a:chOff x="0" y="0"/>
            <a:chExt cx="3413760" cy="58521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413760" cy="585216"/>
            </a:xfrm>
            <a:custGeom>
              <a:avLst/>
              <a:gdLst/>
              <a:ahLst/>
              <a:cxnLst/>
              <a:rect r="r" b="b" t="t" l="l"/>
              <a:pathLst>
                <a:path h="585216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34137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Call 3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4748527" y="5681215"/>
            <a:ext cx="4145785" cy="451609"/>
            <a:chOff x="0" y="0"/>
            <a:chExt cx="5527713" cy="60214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8509" y="8509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527802" cy="602234"/>
            </a:xfrm>
            <a:custGeom>
              <a:avLst/>
              <a:gdLst/>
              <a:ahLst/>
              <a:cxnLst/>
              <a:rect r="r" b="b" t="t" l="l"/>
              <a:pathLst>
                <a:path h="602234" w="5527802">
                  <a:moveTo>
                    <a:pt x="8509" y="0"/>
                  </a:moveTo>
                  <a:lnTo>
                    <a:pt x="5519293" y="0"/>
                  </a:lnTo>
                  <a:cubicBezTo>
                    <a:pt x="5523992" y="0"/>
                    <a:pt x="5527802" y="3810"/>
                    <a:pt x="5527802" y="8509"/>
                  </a:cubicBezTo>
                  <a:lnTo>
                    <a:pt x="5527802" y="593725"/>
                  </a:lnTo>
                  <a:cubicBezTo>
                    <a:pt x="5527802" y="598424"/>
                    <a:pt x="5523992" y="602234"/>
                    <a:pt x="551929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5519293" y="585216"/>
                  </a:lnTo>
                  <a:lnTo>
                    <a:pt x="5519293" y="593725"/>
                  </a:lnTo>
                  <a:lnTo>
                    <a:pt x="5510784" y="593725"/>
                  </a:lnTo>
                  <a:lnTo>
                    <a:pt x="5510784" y="8509"/>
                  </a:lnTo>
                  <a:lnTo>
                    <a:pt x="5519293" y="8509"/>
                  </a:lnTo>
                  <a:lnTo>
                    <a:pt x="551929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754880" y="5687568"/>
            <a:ext cx="4133088" cy="438912"/>
            <a:chOff x="0" y="0"/>
            <a:chExt cx="5510784" cy="58521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5107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2011680" y="6126480"/>
            <a:ext cx="7680960" cy="365760"/>
            <a:chOff x="0" y="0"/>
            <a:chExt cx="10241280" cy="48768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02412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Stage 4 — report_generator.py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987552" y="6729984"/>
            <a:ext cx="804672" cy="329184"/>
            <a:chOff x="0" y="0"/>
            <a:chExt cx="1072896" cy="43891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72896" cy="438912"/>
            </a:xfrm>
            <a:custGeom>
              <a:avLst/>
              <a:gdLst/>
              <a:ahLst/>
              <a:cxnLst/>
              <a:rect r="r" b="b" t="t" l="l"/>
              <a:pathLst>
                <a:path h="43891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107289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When: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828800" y="6729984"/>
            <a:ext cx="7022592" cy="329184"/>
            <a:chOff x="0" y="0"/>
            <a:chExt cx="9363456" cy="43891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363456" cy="438912"/>
            </a:xfrm>
            <a:custGeom>
              <a:avLst/>
              <a:gdLst/>
              <a:ahLst/>
              <a:cxnLst/>
              <a:rect r="r" b="b" t="t" l="l"/>
              <a:pathLst>
                <a:path h="438912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5680" r="0" b="-36568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28575"/>
              <a:ext cx="936345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complexity scoring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87552" y="7168896"/>
            <a:ext cx="804672" cy="914400"/>
            <a:chOff x="0" y="0"/>
            <a:chExt cx="1072896" cy="12192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72896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99" t="0" r="-95799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28575"/>
              <a:ext cx="1072896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Why: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828800" y="7132320"/>
            <a:ext cx="7022592" cy="914400"/>
            <a:chOff x="0" y="0"/>
            <a:chExt cx="9363456" cy="12192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9363456" cy="1219200"/>
            </a:xfrm>
            <a:custGeom>
              <a:avLst/>
              <a:gdLst/>
              <a:ahLst/>
              <a:cxnLst/>
              <a:rect r="r" b="b" t="t" l="l"/>
              <a:pathLst>
                <a:path h="1219200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45" r="0" b="-99645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76200"/>
              <a:ext cx="9363456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6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Synthesis is a different task from analysis. Roadmap needs complexity scores from Stage 3 which don't exist at Call 1 time.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981199" y="8259823"/>
            <a:ext cx="7839961" cy="488185"/>
            <a:chOff x="0" y="0"/>
            <a:chExt cx="10453281" cy="65091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8509" y="8509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0453370" cy="651002"/>
            </a:xfrm>
            <a:custGeom>
              <a:avLst/>
              <a:gdLst/>
              <a:ahLst/>
              <a:cxnLst/>
              <a:rect r="r" b="b" t="t" l="l"/>
              <a:pathLst>
                <a:path h="651002" w="10453370">
                  <a:moveTo>
                    <a:pt x="8509" y="0"/>
                  </a:moveTo>
                  <a:lnTo>
                    <a:pt x="10444861" y="0"/>
                  </a:lnTo>
                  <a:cubicBezTo>
                    <a:pt x="10449560" y="0"/>
                    <a:pt x="10453370" y="3810"/>
                    <a:pt x="10453370" y="8509"/>
                  </a:cubicBezTo>
                  <a:lnTo>
                    <a:pt x="10453370" y="642493"/>
                  </a:lnTo>
                  <a:cubicBezTo>
                    <a:pt x="10453370" y="647192"/>
                    <a:pt x="10449560" y="651002"/>
                    <a:pt x="10444861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10444861" y="633984"/>
                  </a:lnTo>
                  <a:lnTo>
                    <a:pt x="10444861" y="642493"/>
                  </a:lnTo>
                  <a:lnTo>
                    <a:pt x="10436352" y="642493"/>
                  </a:lnTo>
                  <a:lnTo>
                    <a:pt x="10436352" y="8509"/>
                  </a:lnTo>
                  <a:lnTo>
                    <a:pt x="10444861" y="8509"/>
                  </a:lnTo>
                  <a:lnTo>
                    <a:pt x="1044486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133856" y="8266176"/>
            <a:ext cx="7680960" cy="475488"/>
            <a:chOff x="0" y="0"/>
            <a:chExt cx="10241280" cy="633984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1024128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C084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Output: Executive summary + roadmap + tech stack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9588503" y="5400551"/>
            <a:ext cx="8437883" cy="3536699"/>
            <a:chOff x="0" y="0"/>
            <a:chExt cx="11250511" cy="4715599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16891" y="16891"/>
              <a:ext cx="1121664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0F1115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1250422" cy="4715510"/>
            </a:xfrm>
            <a:custGeom>
              <a:avLst/>
              <a:gdLst/>
              <a:ahLst/>
              <a:cxnLst/>
              <a:rect r="r" b="b" t="t" l="l"/>
              <a:pathLst>
                <a:path h="4715510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4698619"/>
                  </a:lnTo>
                  <a:cubicBezTo>
                    <a:pt x="11250422" y="4708017"/>
                    <a:pt x="11242802" y="4715510"/>
                    <a:pt x="11233531" y="4715510"/>
                  </a:cubicBezTo>
                  <a:lnTo>
                    <a:pt x="16891" y="4715510"/>
                  </a:lnTo>
                  <a:cubicBezTo>
                    <a:pt x="7493" y="4715510"/>
                    <a:pt x="0" y="4707890"/>
                    <a:pt x="0" y="46986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98619"/>
                  </a:lnTo>
                  <a:lnTo>
                    <a:pt x="16891" y="4698619"/>
                  </a:lnTo>
                  <a:lnTo>
                    <a:pt x="16891" y="4681728"/>
                  </a:lnTo>
                  <a:lnTo>
                    <a:pt x="11233531" y="4681728"/>
                  </a:lnTo>
                  <a:lnTo>
                    <a:pt x="11233531" y="4698619"/>
                  </a:lnTo>
                  <a:lnTo>
                    <a:pt x="11216640" y="4698619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588503" y="5400551"/>
            <a:ext cx="8437883" cy="116843"/>
            <a:chOff x="0" y="0"/>
            <a:chExt cx="11250511" cy="15579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16891" y="16891"/>
              <a:ext cx="11216640" cy="121920"/>
            </a:xfrm>
            <a:custGeom>
              <a:avLst/>
              <a:gdLst/>
              <a:ahLst/>
              <a:cxnLst/>
              <a:rect r="r" b="b" t="t" l="l"/>
              <a:pathLst>
                <a:path h="1219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1250422" cy="155704"/>
            </a:xfrm>
            <a:custGeom>
              <a:avLst/>
              <a:gdLst/>
              <a:ahLst/>
              <a:cxnLst/>
              <a:rect r="r" b="b" t="t" l="l"/>
              <a:pathLst>
                <a:path h="155704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38811"/>
                  </a:lnTo>
                  <a:cubicBezTo>
                    <a:pt x="11250422" y="148209"/>
                    <a:pt x="11242802" y="155702"/>
                    <a:pt x="1123353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1233531" y="121920"/>
                  </a:lnTo>
                  <a:lnTo>
                    <a:pt x="11233531" y="138811"/>
                  </a:lnTo>
                  <a:lnTo>
                    <a:pt x="11216640" y="13881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9844535" y="5693159"/>
            <a:ext cx="830075" cy="830075"/>
            <a:chOff x="0" y="0"/>
            <a:chExt cx="1106767" cy="1106767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9857232" y="5705856"/>
            <a:ext cx="804672" cy="804672"/>
            <a:chOff x="0" y="0"/>
            <a:chExt cx="1072896" cy="107289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1072896" cy="1110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N+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0881360" y="5669280"/>
            <a:ext cx="2560320" cy="438912"/>
            <a:chOff x="0" y="0"/>
            <a:chExt cx="3413760" cy="585216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413760" cy="585216"/>
            </a:xfrm>
            <a:custGeom>
              <a:avLst/>
              <a:gdLst/>
              <a:ahLst/>
              <a:cxnLst/>
              <a:rect r="r" b="b" t="t" l="l"/>
              <a:pathLst>
                <a:path h="585216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47625"/>
              <a:ext cx="341376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 Calls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3618207" y="5681215"/>
            <a:ext cx="4145785" cy="451609"/>
            <a:chOff x="0" y="0"/>
            <a:chExt cx="5527713" cy="602145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8509" y="8509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5527802" cy="602234"/>
            </a:xfrm>
            <a:custGeom>
              <a:avLst/>
              <a:gdLst/>
              <a:ahLst/>
              <a:cxnLst/>
              <a:rect r="r" b="b" t="t" l="l"/>
              <a:pathLst>
                <a:path h="602234" w="5527802">
                  <a:moveTo>
                    <a:pt x="8509" y="0"/>
                  </a:moveTo>
                  <a:lnTo>
                    <a:pt x="5519293" y="0"/>
                  </a:lnTo>
                  <a:cubicBezTo>
                    <a:pt x="5523992" y="0"/>
                    <a:pt x="5527802" y="3810"/>
                    <a:pt x="5527802" y="8509"/>
                  </a:cubicBezTo>
                  <a:lnTo>
                    <a:pt x="5527802" y="593725"/>
                  </a:lnTo>
                  <a:cubicBezTo>
                    <a:pt x="5527802" y="598424"/>
                    <a:pt x="5523992" y="602234"/>
                    <a:pt x="551929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5519293" y="585216"/>
                  </a:lnTo>
                  <a:lnTo>
                    <a:pt x="5519293" y="593725"/>
                  </a:lnTo>
                  <a:lnTo>
                    <a:pt x="5510784" y="593725"/>
                  </a:lnTo>
                  <a:lnTo>
                    <a:pt x="5510784" y="8509"/>
                  </a:lnTo>
                  <a:lnTo>
                    <a:pt x="5519293" y="8509"/>
                  </a:lnTo>
                  <a:lnTo>
                    <a:pt x="551929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624560" y="5687568"/>
            <a:ext cx="4133088" cy="438912"/>
            <a:chOff x="0" y="0"/>
            <a:chExt cx="5510784" cy="585216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5510784" cy="585216"/>
            </a:xfrm>
            <a:custGeom>
              <a:avLst/>
              <a:gdLst/>
              <a:ahLst/>
              <a:cxnLst/>
              <a:rect r="r" b="b" t="t" l="l"/>
              <a:pathLst>
                <a:path h="585216" w="5510784">
                  <a:moveTo>
                    <a:pt x="0" y="0"/>
                  </a:moveTo>
                  <a:lnTo>
                    <a:pt x="5510784" y="0"/>
                  </a:lnTo>
                  <a:lnTo>
                    <a:pt x="551078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3484" r="0" b="-133484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5510784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3.5 Sonnet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0881360" y="6157474"/>
            <a:ext cx="7680960" cy="365760"/>
            <a:chOff x="0" y="0"/>
            <a:chExt cx="10241280" cy="48768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0241280" cy="487680"/>
            </a:xfrm>
            <a:custGeom>
              <a:avLst/>
              <a:gdLst/>
              <a:ahLst/>
              <a:cxnLst/>
              <a:rect r="r" b="b" t="t" l="l"/>
              <a:pathLst>
                <a:path h="4876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28575"/>
              <a:ext cx="1024128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 /api/chat/:id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9857232" y="6729984"/>
            <a:ext cx="804672" cy="329184"/>
            <a:chOff x="0" y="0"/>
            <a:chExt cx="1072896" cy="43891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072896" cy="438912"/>
            </a:xfrm>
            <a:custGeom>
              <a:avLst/>
              <a:gdLst/>
              <a:ahLst/>
              <a:cxnLst/>
              <a:rect r="r" b="b" t="t" l="l"/>
              <a:pathLst>
                <a:path h="43891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28575"/>
              <a:ext cx="107289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When: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0698480" y="6729984"/>
            <a:ext cx="7022592" cy="329184"/>
            <a:chOff x="0" y="0"/>
            <a:chExt cx="9363456" cy="438912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9363456" cy="438912"/>
            </a:xfrm>
            <a:custGeom>
              <a:avLst/>
              <a:gdLst/>
              <a:ahLst/>
              <a:cxnLst/>
              <a:rect r="r" b="b" t="t" l="l"/>
              <a:pathLst>
                <a:path h="438912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5680" r="0" b="-365680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28575"/>
              <a:ext cx="9363456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user message in the chat window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9857232" y="7168896"/>
            <a:ext cx="804672" cy="914400"/>
            <a:chOff x="0" y="0"/>
            <a:chExt cx="1072896" cy="12192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072896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5799" t="0" r="-95799" b="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1072896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Why: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0698480" y="7132320"/>
            <a:ext cx="7022592" cy="914400"/>
            <a:chOff x="0" y="0"/>
            <a:chExt cx="9363456" cy="12192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9363456" cy="1219200"/>
            </a:xfrm>
            <a:custGeom>
              <a:avLst/>
              <a:gdLst/>
              <a:ahLst/>
              <a:cxnLst/>
              <a:rect r="r" b="b" t="t" l="l"/>
              <a:pathLst>
                <a:path h="1219200" w="9363456">
                  <a:moveTo>
                    <a:pt x="0" y="0"/>
                  </a:moveTo>
                  <a:lnTo>
                    <a:pt x="9363456" y="0"/>
                  </a:lnTo>
                  <a:lnTo>
                    <a:pt x="9363456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45" r="0" b="-99645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76200"/>
              <a:ext cx="9363456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6"/>
                </a:lnSpc>
              </a:pPr>
              <a:r>
                <a:rPr lang="en-US" sz="1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JSON injected as system prompt. Claude answers grounded in actual scores and process names, not generic AI knowledge.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9850879" y="8259823"/>
            <a:ext cx="7839961" cy="488185"/>
            <a:chOff x="0" y="0"/>
            <a:chExt cx="10453281" cy="650913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8509" y="8509"/>
              <a:ext cx="10436352" cy="633984"/>
            </a:xfrm>
            <a:custGeom>
              <a:avLst/>
              <a:gdLst/>
              <a:ahLst/>
              <a:cxnLst/>
              <a:rect r="r" b="b" t="t" l="l"/>
              <a:pathLst>
                <a:path h="633984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10453370" cy="651002"/>
            </a:xfrm>
            <a:custGeom>
              <a:avLst/>
              <a:gdLst/>
              <a:ahLst/>
              <a:cxnLst/>
              <a:rect r="r" b="b" t="t" l="l"/>
              <a:pathLst>
                <a:path h="651002" w="10453370">
                  <a:moveTo>
                    <a:pt x="8509" y="0"/>
                  </a:moveTo>
                  <a:lnTo>
                    <a:pt x="10444861" y="0"/>
                  </a:lnTo>
                  <a:cubicBezTo>
                    <a:pt x="10449560" y="0"/>
                    <a:pt x="10453370" y="3810"/>
                    <a:pt x="10453370" y="8509"/>
                  </a:cubicBezTo>
                  <a:lnTo>
                    <a:pt x="10453370" y="642493"/>
                  </a:lnTo>
                  <a:cubicBezTo>
                    <a:pt x="10453370" y="647192"/>
                    <a:pt x="10449560" y="651002"/>
                    <a:pt x="10444861" y="651002"/>
                  </a:cubicBezTo>
                  <a:lnTo>
                    <a:pt x="8509" y="651002"/>
                  </a:lnTo>
                  <a:cubicBezTo>
                    <a:pt x="3810" y="651002"/>
                    <a:pt x="0" y="647192"/>
                    <a:pt x="0" y="64249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42493"/>
                  </a:lnTo>
                  <a:lnTo>
                    <a:pt x="8509" y="642493"/>
                  </a:lnTo>
                  <a:lnTo>
                    <a:pt x="8509" y="633984"/>
                  </a:lnTo>
                  <a:lnTo>
                    <a:pt x="10444861" y="633984"/>
                  </a:lnTo>
                  <a:lnTo>
                    <a:pt x="10444861" y="642493"/>
                  </a:lnTo>
                  <a:lnTo>
                    <a:pt x="10436352" y="642493"/>
                  </a:lnTo>
                  <a:lnTo>
                    <a:pt x="10436352" y="8509"/>
                  </a:lnTo>
                  <a:lnTo>
                    <a:pt x="10444861" y="8509"/>
                  </a:lnTo>
                  <a:lnTo>
                    <a:pt x="1044486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B923C"/>
            </a:solidFill>
          </p:spPr>
        </p:sp>
      </p:grpSp>
      <p:grpSp>
        <p:nvGrpSpPr>
          <p:cNvPr name="Group 186" id="186"/>
          <p:cNvGrpSpPr/>
          <p:nvPr/>
        </p:nvGrpSpPr>
        <p:grpSpPr>
          <a:xfrm rot="0">
            <a:off x="10003536" y="8266176"/>
            <a:ext cx="7680960" cy="475488"/>
            <a:chOff x="0" y="0"/>
            <a:chExt cx="10241280" cy="633984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102412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188" id="188"/>
            <p:cNvSpPr txBox="true"/>
            <p:nvPr/>
          </p:nvSpPr>
          <p:spPr>
            <a:xfrm>
              <a:off x="0" y="-28575"/>
              <a:ext cx="10241280" cy="662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b="true">
                  <a:solidFill>
                    <a:srgbClr val="FB92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Output: Natural language answer about the report</a:t>
              </a:r>
            </a:p>
          </p:txBody>
        </p:sp>
      </p:grpSp>
      <p:grpSp>
        <p:nvGrpSpPr>
          <p:cNvPr name="Group 189" id="189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191" id="191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192" id="192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200" id="200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12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852860" y="475488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2697" y="-12697"/>
            <a:ext cx="18313403" cy="98555"/>
            <a:chOff x="0" y="0"/>
            <a:chExt cx="24417871" cy="131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4383999" cy="97536"/>
            </a:xfrm>
            <a:custGeom>
              <a:avLst/>
              <a:gdLst/>
              <a:ahLst/>
              <a:cxnLst/>
              <a:rect r="r" b="b" t="t" l="l"/>
              <a:pathLst>
                <a:path h="97536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17782" cy="131320"/>
            </a:xfrm>
            <a:custGeom>
              <a:avLst/>
              <a:gdLst/>
              <a:ahLst/>
              <a:cxnLst/>
              <a:rect r="r" b="b" t="t" l="l"/>
              <a:pathLst>
                <a:path h="13132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4427"/>
                  </a:lnTo>
                  <a:cubicBezTo>
                    <a:pt x="24417782" y="123825"/>
                    <a:pt x="24410163" y="131318"/>
                    <a:pt x="244008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4400890" y="97536"/>
                  </a:lnTo>
                  <a:lnTo>
                    <a:pt x="24400890" y="114427"/>
                  </a:lnTo>
                  <a:lnTo>
                    <a:pt x="24384000" y="114427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8823" y="298199"/>
            <a:ext cx="1762763" cy="610619"/>
            <a:chOff x="0" y="0"/>
            <a:chExt cx="2350351" cy="814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891" y="16891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0262" cy="814072"/>
            </a:xfrm>
            <a:custGeom>
              <a:avLst/>
              <a:gdLst/>
              <a:ahLst/>
              <a:cxnLst/>
              <a:rect r="r" b="b" t="t" l="l"/>
              <a:pathLst>
                <a:path h="814072" w="2350262">
                  <a:moveTo>
                    <a:pt x="16891" y="0"/>
                  </a:moveTo>
                  <a:lnTo>
                    <a:pt x="2333371" y="0"/>
                  </a:lnTo>
                  <a:cubicBezTo>
                    <a:pt x="2342769" y="0"/>
                    <a:pt x="2350262" y="7620"/>
                    <a:pt x="2350262" y="16891"/>
                  </a:cubicBezTo>
                  <a:lnTo>
                    <a:pt x="2350262" y="797179"/>
                  </a:lnTo>
                  <a:cubicBezTo>
                    <a:pt x="2350262" y="806577"/>
                    <a:pt x="2342642" y="814070"/>
                    <a:pt x="233337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33371" y="780288"/>
                  </a:lnTo>
                  <a:lnTo>
                    <a:pt x="2333371" y="797179"/>
                  </a:lnTo>
                  <a:lnTo>
                    <a:pt x="2316480" y="797179"/>
                  </a:lnTo>
                  <a:lnTo>
                    <a:pt x="2316480" y="16891"/>
                  </a:lnTo>
                  <a:lnTo>
                    <a:pt x="2333371" y="16891"/>
                  </a:lnTo>
                  <a:lnTo>
                    <a:pt x="2333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310896"/>
            <a:ext cx="1737360" cy="585216"/>
            <a:chOff x="0" y="0"/>
            <a:chExt cx="231648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6480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46" r="0" b="-78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1648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8090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79776" y="219456"/>
            <a:ext cx="13716000" cy="512064"/>
            <a:chOff x="0" y="0"/>
            <a:chExt cx="182880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88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1920" r="0" b="-4719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82880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DATA FLOW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9776" y="768096"/>
            <a:ext cx="13716000" cy="402336"/>
            <a:chOff x="0" y="0"/>
            <a:chExt cx="182880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14262" r="0" b="-61426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82880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blank form to chat reply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2697" y="9826247"/>
            <a:ext cx="18313403" cy="473459"/>
            <a:chOff x="0" y="0"/>
            <a:chExt cx="24417871" cy="6312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4383999" cy="597408"/>
            </a:xfrm>
            <a:custGeom>
              <a:avLst/>
              <a:gdLst/>
              <a:ahLst/>
              <a:cxnLst/>
              <a:rect r="r" b="b" t="t" l="l"/>
              <a:pathLst>
                <a:path h="59740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17782" cy="631192"/>
            </a:xfrm>
            <a:custGeom>
              <a:avLst/>
              <a:gdLst/>
              <a:ahLst/>
              <a:cxnLst/>
              <a:rect r="r" b="b" t="t" l="l"/>
              <a:pathLst>
                <a:path h="63119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14299"/>
                  </a:lnTo>
                  <a:cubicBezTo>
                    <a:pt x="24417782" y="623697"/>
                    <a:pt x="24410163" y="631190"/>
                    <a:pt x="24400890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24400890" y="597408"/>
                  </a:lnTo>
                  <a:lnTo>
                    <a:pt x="24400890" y="614299"/>
                  </a:lnTo>
                  <a:lnTo>
                    <a:pt x="24384000" y="61429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73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12697" y="9826247"/>
            <a:ext cx="135131" cy="473459"/>
            <a:chOff x="0" y="0"/>
            <a:chExt cx="180175" cy="6312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46304" cy="597408"/>
            </a:xfrm>
            <a:custGeom>
              <a:avLst/>
              <a:gdLst/>
              <a:ahLst/>
              <a:cxnLst/>
              <a:rect r="r" b="b" t="t" l="l"/>
              <a:pathLst>
                <a:path h="597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597408"/>
                  </a:lnTo>
                  <a:lnTo>
                    <a:pt x="0" y="597408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086" cy="631192"/>
            </a:xfrm>
            <a:custGeom>
              <a:avLst/>
              <a:gdLst/>
              <a:ahLst/>
              <a:cxnLst/>
              <a:rect r="r" b="b" t="t" l="l"/>
              <a:pathLst>
                <a:path h="63119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614299"/>
                  </a:lnTo>
                  <a:cubicBezTo>
                    <a:pt x="180086" y="623697"/>
                    <a:pt x="172466" y="631190"/>
                    <a:pt x="163195" y="631190"/>
                  </a:cubicBezTo>
                  <a:lnTo>
                    <a:pt x="16891" y="631190"/>
                  </a:lnTo>
                  <a:cubicBezTo>
                    <a:pt x="7620" y="631317"/>
                    <a:pt x="0" y="623697"/>
                    <a:pt x="0" y="614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14299"/>
                  </a:lnTo>
                  <a:lnTo>
                    <a:pt x="16891" y="614299"/>
                  </a:lnTo>
                  <a:lnTo>
                    <a:pt x="16891" y="597408"/>
                  </a:lnTo>
                  <a:lnTo>
                    <a:pt x="163195" y="597408"/>
                  </a:lnTo>
                  <a:lnTo>
                    <a:pt x="163195" y="614299"/>
                  </a:lnTo>
                  <a:lnTo>
                    <a:pt x="146304" y="614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" y="9857232"/>
            <a:ext cx="15544800" cy="402336"/>
            <a:chOff x="0" y="0"/>
            <a:chExt cx="20726400" cy="5364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0" cy="536448"/>
            </a:xfrm>
            <a:custGeom>
              <a:avLst/>
              <a:gdLst/>
              <a:ahLst/>
              <a:cxnLst/>
              <a:rect r="r" b="b" t="t" l="l"/>
              <a:pathLst>
                <a:path h="53644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2830" r="0" b="-70283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07264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Zeb Fractal  ·  AVASOFT Hackathon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093440" y="9857232"/>
            <a:ext cx="1371600" cy="402336"/>
            <a:chOff x="0" y="0"/>
            <a:chExt cx="1828800" cy="5364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536448"/>
            </a:xfrm>
            <a:custGeom>
              <a:avLst/>
              <a:gdLst/>
              <a:ahLst/>
              <a:cxnLst/>
              <a:rect r="r" b="b" t="t" l="l"/>
              <a:pathLst>
                <a:path h="536448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26" r="0" b="-164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8288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12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6100474" y="1426216"/>
            <a:ext cx="6877525" cy="8400031"/>
          </a:xfrm>
          <a:custGeom>
            <a:avLst/>
            <a:gdLst/>
            <a:ahLst/>
            <a:cxnLst/>
            <a:rect r="r" b="b" t="t" l="l"/>
            <a:pathLst>
              <a:path h="8400031" w="6877525">
                <a:moveTo>
                  <a:pt x="0" y="0"/>
                </a:moveTo>
                <a:lnTo>
                  <a:pt x="6877525" y="0"/>
                </a:lnTo>
                <a:lnTo>
                  <a:pt x="6877525" y="8400031"/>
                </a:lnTo>
                <a:lnTo>
                  <a:pt x="0" y="8400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8447" y="450847"/>
            <a:ext cx="1841497" cy="1841497"/>
            <a:chOff x="0" y="0"/>
            <a:chExt cx="2455329" cy="2455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418" cy="2455418"/>
            </a:xfrm>
            <a:custGeom>
              <a:avLst/>
              <a:gdLst/>
              <a:ahLst/>
              <a:cxnLst/>
              <a:rect r="r" b="b" t="t" l="l"/>
              <a:pathLst>
                <a:path h="2455418" w="2455418">
                  <a:moveTo>
                    <a:pt x="0" y="1227709"/>
                  </a:moveTo>
                  <a:cubicBezTo>
                    <a:pt x="0" y="549656"/>
                    <a:pt x="549656" y="0"/>
                    <a:pt x="1227709" y="0"/>
                  </a:cubicBezTo>
                  <a:lnTo>
                    <a:pt x="1227709" y="8509"/>
                  </a:lnTo>
                  <a:lnTo>
                    <a:pt x="1227709" y="0"/>
                  </a:lnTo>
                  <a:cubicBezTo>
                    <a:pt x="1905762" y="0"/>
                    <a:pt x="2455418" y="549656"/>
                    <a:pt x="2455418" y="1227709"/>
                  </a:cubicBezTo>
                  <a:lnTo>
                    <a:pt x="2446909" y="1227709"/>
                  </a:lnTo>
                  <a:lnTo>
                    <a:pt x="2455418" y="1227709"/>
                  </a:lnTo>
                  <a:cubicBezTo>
                    <a:pt x="2455418" y="1905762"/>
                    <a:pt x="1905762" y="2455418"/>
                    <a:pt x="1227709" y="2455418"/>
                  </a:cubicBezTo>
                  <a:lnTo>
                    <a:pt x="1227709" y="2446909"/>
                  </a:lnTo>
                  <a:lnTo>
                    <a:pt x="1227709" y="2455418"/>
                  </a:lnTo>
                  <a:cubicBezTo>
                    <a:pt x="549656" y="2455291"/>
                    <a:pt x="0" y="1905635"/>
                    <a:pt x="0" y="1227709"/>
                  </a:cubicBezTo>
                  <a:lnTo>
                    <a:pt x="8509" y="12277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0" y="1227709"/>
                  </a:lnTo>
                  <a:moveTo>
                    <a:pt x="16891" y="1227709"/>
                  </a:moveTo>
                  <a:cubicBezTo>
                    <a:pt x="16891" y="1232408"/>
                    <a:pt x="13081" y="1236218"/>
                    <a:pt x="8382" y="1236218"/>
                  </a:cubicBezTo>
                  <a:cubicBezTo>
                    <a:pt x="3683" y="1236218"/>
                    <a:pt x="0" y="1232281"/>
                    <a:pt x="0" y="1227709"/>
                  </a:cubicBezTo>
                  <a:cubicBezTo>
                    <a:pt x="0" y="1223137"/>
                    <a:pt x="3810" y="1219200"/>
                    <a:pt x="8509" y="1219200"/>
                  </a:cubicBezTo>
                  <a:cubicBezTo>
                    <a:pt x="13208" y="1219200"/>
                    <a:pt x="17018" y="1223010"/>
                    <a:pt x="17018" y="1227709"/>
                  </a:cubicBezTo>
                  <a:cubicBezTo>
                    <a:pt x="16891" y="1896364"/>
                    <a:pt x="559054" y="2438400"/>
                    <a:pt x="1227709" y="2438400"/>
                  </a:cubicBezTo>
                  <a:cubicBezTo>
                    <a:pt x="1896364" y="2438400"/>
                    <a:pt x="2438400" y="1896364"/>
                    <a:pt x="2438400" y="1227709"/>
                  </a:cubicBezTo>
                  <a:cubicBezTo>
                    <a:pt x="2438400" y="559054"/>
                    <a:pt x="1896364" y="17018"/>
                    <a:pt x="1227709" y="17018"/>
                  </a:cubicBezTo>
                  <a:lnTo>
                    <a:pt x="1227709" y="8509"/>
                  </a:lnTo>
                  <a:lnTo>
                    <a:pt x="1227709" y="17018"/>
                  </a:lnTo>
                  <a:cubicBezTo>
                    <a:pt x="559054" y="16891"/>
                    <a:pt x="16891" y="559054"/>
                    <a:pt x="16891" y="1227709"/>
                  </a:cubicBezTo>
                  <a:close/>
                </a:path>
              </a:pathLst>
            </a:custGeom>
            <a:solidFill>
              <a:srgbClr val="A3E635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58287" y="-189233"/>
            <a:ext cx="4401817" cy="4401817"/>
            <a:chOff x="0" y="0"/>
            <a:chExt cx="5869089" cy="5869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27" y="0"/>
              <a:ext cx="5869178" cy="5869178"/>
            </a:xfrm>
            <a:custGeom>
              <a:avLst/>
              <a:gdLst/>
              <a:ahLst/>
              <a:cxnLst/>
              <a:rect r="r" b="b" t="t" l="l"/>
              <a:pathLst>
                <a:path h="5869178" w="5869178">
                  <a:moveTo>
                    <a:pt x="127" y="2934589"/>
                  </a:moveTo>
                  <a:cubicBezTo>
                    <a:pt x="127" y="1313815"/>
                    <a:pt x="1313942" y="0"/>
                    <a:pt x="2934716" y="0"/>
                  </a:cubicBezTo>
                  <a:lnTo>
                    <a:pt x="2934716" y="8509"/>
                  </a:lnTo>
                  <a:lnTo>
                    <a:pt x="2934716" y="0"/>
                  </a:lnTo>
                  <a:cubicBezTo>
                    <a:pt x="4555363" y="0"/>
                    <a:pt x="5869178" y="1313815"/>
                    <a:pt x="5869178" y="2934589"/>
                  </a:cubicBezTo>
                  <a:lnTo>
                    <a:pt x="5860669" y="2934589"/>
                  </a:lnTo>
                  <a:lnTo>
                    <a:pt x="5869178" y="2934589"/>
                  </a:lnTo>
                  <a:cubicBezTo>
                    <a:pt x="5869178" y="4555236"/>
                    <a:pt x="4555363" y="5869178"/>
                    <a:pt x="2934589" y="5869178"/>
                  </a:cubicBezTo>
                  <a:lnTo>
                    <a:pt x="2934589" y="5860669"/>
                  </a:lnTo>
                  <a:lnTo>
                    <a:pt x="2934589" y="5869178"/>
                  </a:lnTo>
                  <a:cubicBezTo>
                    <a:pt x="1313942" y="5869051"/>
                    <a:pt x="127" y="4555236"/>
                    <a:pt x="127" y="2934589"/>
                  </a:cubicBezTo>
                  <a:lnTo>
                    <a:pt x="8636" y="2934589"/>
                  </a:lnTo>
                  <a:lnTo>
                    <a:pt x="17145" y="2934589"/>
                  </a:lnTo>
                  <a:lnTo>
                    <a:pt x="8636" y="2934589"/>
                  </a:lnTo>
                  <a:lnTo>
                    <a:pt x="127" y="2934589"/>
                  </a:lnTo>
                  <a:moveTo>
                    <a:pt x="17018" y="2934589"/>
                  </a:moveTo>
                  <a:cubicBezTo>
                    <a:pt x="17018" y="2939288"/>
                    <a:pt x="13208" y="2943098"/>
                    <a:pt x="8509" y="2943098"/>
                  </a:cubicBezTo>
                  <a:cubicBezTo>
                    <a:pt x="3810" y="2943098"/>
                    <a:pt x="0" y="2939288"/>
                    <a:pt x="0" y="2934589"/>
                  </a:cubicBezTo>
                  <a:cubicBezTo>
                    <a:pt x="0" y="2929890"/>
                    <a:pt x="3810" y="2926080"/>
                    <a:pt x="8509" y="2926080"/>
                  </a:cubicBezTo>
                  <a:cubicBezTo>
                    <a:pt x="13208" y="2926080"/>
                    <a:pt x="17018" y="2929890"/>
                    <a:pt x="17018" y="2934589"/>
                  </a:cubicBezTo>
                  <a:cubicBezTo>
                    <a:pt x="17018" y="4545965"/>
                    <a:pt x="1323340" y="5852160"/>
                    <a:pt x="2934589" y="5852160"/>
                  </a:cubicBezTo>
                  <a:cubicBezTo>
                    <a:pt x="4545965" y="5852160"/>
                    <a:pt x="5852160" y="4545838"/>
                    <a:pt x="5852160" y="2934589"/>
                  </a:cubicBezTo>
                  <a:cubicBezTo>
                    <a:pt x="5852287" y="1323213"/>
                    <a:pt x="4545965" y="16891"/>
                    <a:pt x="2934716" y="16891"/>
                  </a:cubicBezTo>
                  <a:lnTo>
                    <a:pt x="2934716" y="8509"/>
                  </a:lnTo>
                  <a:lnTo>
                    <a:pt x="2934716" y="17018"/>
                  </a:lnTo>
                  <a:cubicBezTo>
                    <a:pt x="1323340" y="16891"/>
                    <a:pt x="17018" y="1323213"/>
                    <a:pt x="17018" y="2934589"/>
                  </a:cubicBezTo>
                  <a:close/>
                </a:path>
              </a:pathLst>
            </a:custGeom>
            <a:solidFill>
              <a:srgbClr val="A3E635">
                <a:alpha val="13333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78127" y="-829313"/>
            <a:ext cx="6962137" cy="6962137"/>
            <a:chOff x="0" y="0"/>
            <a:chExt cx="9282849" cy="9282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27" y="0"/>
              <a:ext cx="9282938" cy="9282938"/>
            </a:xfrm>
            <a:custGeom>
              <a:avLst/>
              <a:gdLst/>
              <a:ahLst/>
              <a:cxnLst/>
              <a:rect r="r" b="b" t="t" l="l"/>
              <a:pathLst>
                <a:path h="9282938" w="9282938">
                  <a:moveTo>
                    <a:pt x="127" y="4641469"/>
                  </a:moveTo>
                  <a:cubicBezTo>
                    <a:pt x="127" y="2077974"/>
                    <a:pt x="2078101" y="0"/>
                    <a:pt x="4641596" y="0"/>
                  </a:cubicBezTo>
                  <a:lnTo>
                    <a:pt x="4641596" y="8509"/>
                  </a:lnTo>
                  <a:lnTo>
                    <a:pt x="4641596" y="0"/>
                  </a:lnTo>
                  <a:cubicBezTo>
                    <a:pt x="7204964" y="0"/>
                    <a:pt x="9282938" y="2077974"/>
                    <a:pt x="9282938" y="4641469"/>
                  </a:cubicBezTo>
                  <a:lnTo>
                    <a:pt x="9274429" y="4641469"/>
                  </a:lnTo>
                  <a:lnTo>
                    <a:pt x="9282938" y="4641469"/>
                  </a:lnTo>
                  <a:cubicBezTo>
                    <a:pt x="9282938" y="7204837"/>
                    <a:pt x="7204964" y="9282938"/>
                    <a:pt x="4641469" y="9282938"/>
                  </a:cubicBezTo>
                  <a:lnTo>
                    <a:pt x="4641469" y="9274429"/>
                  </a:lnTo>
                  <a:lnTo>
                    <a:pt x="4641469" y="9282938"/>
                  </a:lnTo>
                  <a:cubicBezTo>
                    <a:pt x="2078101" y="9282811"/>
                    <a:pt x="127" y="7204837"/>
                    <a:pt x="127" y="4641469"/>
                  </a:cubicBezTo>
                  <a:lnTo>
                    <a:pt x="8636" y="4641469"/>
                  </a:lnTo>
                  <a:lnTo>
                    <a:pt x="17145" y="4641469"/>
                  </a:lnTo>
                  <a:lnTo>
                    <a:pt x="8636" y="4641469"/>
                  </a:lnTo>
                  <a:lnTo>
                    <a:pt x="127" y="4641469"/>
                  </a:lnTo>
                  <a:moveTo>
                    <a:pt x="17018" y="4641469"/>
                  </a:moveTo>
                  <a:cubicBezTo>
                    <a:pt x="17018" y="4646168"/>
                    <a:pt x="13208" y="4649978"/>
                    <a:pt x="8509" y="4649978"/>
                  </a:cubicBezTo>
                  <a:cubicBezTo>
                    <a:pt x="3810" y="4649978"/>
                    <a:pt x="0" y="4646168"/>
                    <a:pt x="0" y="4641469"/>
                  </a:cubicBezTo>
                  <a:cubicBezTo>
                    <a:pt x="0" y="4636770"/>
                    <a:pt x="3810" y="4632960"/>
                    <a:pt x="8509" y="4632960"/>
                  </a:cubicBezTo>
                  <a:cubicBezTo>
                    <a:pt x="13208" y="4632960"/>
                    <a:pt x="17018" y="4636770"/>
                    <a:pt x="17018" y="4641469"/>
                  </a:cubicBezTo>
                  <a:cubicBezTo>
                    <a:pt x="17018" y="7195566"/>
                    <a:pt x="2087499" y="9265920"/>
                    <a:pt x="4641469" y="9265920"/>
                  </a:cubicBezTo>
                  <a:cubicBezTo>
                    <a:pt x="7195566" y="9265920"/>
                    <a:pt x="9265920" y="7195439"/>
                    <a:pt x="9265920" y="4641469"/>
                  </a:cubicBezTo>
                  <a:cubicBezTo>
                    <a:pt x="9266047" y="2087372"/>
                    <a:pt x="7195566" y="16891"/>
                    <a:pt x="4641596" y="16891"/>
                  </a:cubicBezTo>
                  <a:lnTo>
                    <a:pt x="4641596" y="8509"/>
                  </a:lnTo>
                  <a:lnTo>
                    <a:pt x="4641596" y="17018"/>
                  </a:lnTo>
                  <a:cubicBezTo>
                    <a:pt x="2087499" y="16891"/>
                    <a:pt x="17018" y="2087372"/>
                    <a:pt x="17018" y="4641469"/>
                  </a:cubicBezTo>
                  <a:close/>
                </a:path>
              </a:pathLst>
            </a:custGeom>
            <a:solidFill>
              <a:srgbClr val="A3E635">
                <a:alpha val="8235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97967" y="-1469393"/>
            <a:ext cx="9522457" cy="9522457"/>
            <a:chOff x="0" y="0"/>
            <a:chExt cx="12696609" cy="126966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96571" cy="12696698"/>
            </a:xfrm>
            <a:custGeom>
              <a:avLst/>
              <a:gdLst/>
              <a:ahLst/>
              <a:cxnLst/>
              <a:rect r="r" b="b" t="t" l="l"/>
              <a:pathLst>
                <a:path h="12696698" w="12696571">
                  <a:moveTo>
                    <a:pt x="0" y="6348349"/>
                  </a:moveTo>
                  <a:cubicBezTo>
                    <a:pt x="0" y="2842260"/>
                    <a:pt x="2842260" y="0"/>
                    <a:pt x="6348349" y="0"/>
                  </a:cubicBezTo>
                  <a:lnTo>
                    <a:pt x="6348349" y="8509"/>
                  </a:lnTo>
                  <a:lnTo>
                    <a:pt x="6348349" y="0"/>
                  </a:lnTo>
                  <a:cubicBezTo>
                    <a:pt x="9854438" y="0"/>
                    <a:pt x="12696571" y="2842260"/>
                    <a:pt x="12696571" y="6348349"/>
                  </a:cubicBezTo>
                  <a:cubicBezTo>
                    <a:pt x="12696571" y="9854438"/>
                    <a:pt x="9854311" y="12696698"/>
                    <a:pt x="6348222" y="12696698"/>
                  </a:cubicBezTo>
                  <a:lnTo>
                    <a:pt x="6348222" y="12688189"/>
                  </a:lnTo>
                  <a:lnTo>
                    <a:pt x="6348222" y="12696698"/>
                  </a:lnTo>
                  <a:cubicBezTo>
                    <a:pt x="2842260" y="12696571"/>
                    <a:pt x="0" y="9854438"/>
                    <a:pt x="0" y="6348349"/>
                  </a:cubicBezTo>
                  <a:lnTo>
                    <a:pt x="8509" y="6348349"/>
                  </a:lnTo>
                  <a:lnTo>
                    <a:pt x="15621" y="6352921"/>
                  </a:lnTo>
                  <a:cubicBezTo>
                    <a:pt x="13589" y="6356096"/>
                    <a:pt x="9779" y="6357493"/>
                    <a:pt x="6096" y="6356477"/>
                  </a:cubicBezTo>
                  <a:cubicBezTo>
                    <a:pt x="2413" y="6355461"/>
                    <a:pt x="0" y="6352159"/>
                    <a:pt x="0" y="6348349"/>
                  </a:cubicBezTo>
                  <a:moveTo>
                    <a:pt x="16891" y="6348349"/>
                  </a:moveTo>
                  <a:lnTo>
                    <a:pt x="8509" y="6348349"/>
                  </a:lnTo>
                  <a:lnTo>
                    <a:pt x="1397" y="6343777"/>
                  </a:lnTo>
                  <a:cubicBezTo>
                    <a:pt x="3429" y="6340602"/>
                    <a:pt x="7239" y="6339205"/>
                    <a:pt x="10922" y="6340221"/>
                  </a:cubicBezTo>
                  <a:cubicBezTo>
                    <a:pt x="14605" y="6341237"/>
                    <a:pt x="17018" y="6344539"/>
                    <a:pt x="17018" y="6348349"/>
                  </a:cubicBezTo>
                  <a:cubicBezTo>
                    <a:pt x="17018" y="9845040"/>
                    <a:pt x="2851658" y="12679680"/>
                    <a:pt x="6348349" y="12679680"/>
                  </a:cubicBezTo>
                  <a:cubicBezTo>
                    <a:pt x="9845040" y="12679680"/>
                    <a:pt x="12679680" y="9845040"/>
                    <a:pt x="12679680" y="6348349"/>
                  </a:cubicBezTo>
                  <a:lnTo>
                    <a:pt x="12688189" y="6348349"/>
                  </a:lnTo>
                  <a:lnTo>
                    <a:pt x="12679680" y="6348349"/>
                  </a:lnTo>
                  <a:cubicBezTo>
                    <a:pt x="12679680" y="2851531"/>
                    <a:pt x="9845040" y="16891"/>
                    <a:pt x="6348349" y="16891"/>
                  </a:cubicBezTo>
                  <a:lnTo>
                    <a:pt x="6348349" y="8509"/>
                  </a:lnTo>
                  <a:lnTo>
                    <a:pt x="6348349" y="17018"/>
                  </a:lnTo>
                  <a:cubicBezTo>
                    <a:pt x="2851531" y="16891"/>
                    <a:pt x="16891" y="2851531"/>
                    <a:pt x="16891" y="6348349"/>
                  </a:cubicBezTo>
                  <a:close/>
                </a:path>
              </a:pathLst>
            </a:custGeom>
            <a:solidFill>
              <a:srgbClr val="A3E635">
                <a:alpha val="431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72113" y="8406127"/>
            <a:ext cx="1475737" cy="1475737"/>
            <a:chOff x="0" y="0"/>
            <a:chExt cx="1967649" cy="1967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67738" cy="1967738"/>
            </a:xfrm>
            <a:custGeom>
              <a:avLst/>
              <a:gdLst/>
              <a:ahLst/>
              <a:cxnLst/>
              <a:rect r="r" b="b" t="t" l="l"/>
              <a:pathLst>
                <a:path h="1967738" w="1967738">
                  <a:moveTo>
                    <a:pt x="0" y="983869"/>
                  </a:moveTo>
                  <a:cubicBezTo>
                    <a:pt x="0" y="440436"/>
                    <a:pt x="440436" y="0"/>
                    <a:pt x="983869" y="0"/>
                  </a:cubicBezTo>
                  <a:cubicBezTo>
                    <a:pt x="1527175" y="0"/>
                    <a:pt x="1967738" y="440436"/>
                    <a:pt x="1967738" y="983869"/>
                  </a:cubicBezTo>
                  <a:lnTo>
                    <a:pt x="1959229" y="983869"/>
                  </a:lnTo>
                  <a:lnTo>
                    <a:pt x="1967738" y="983869"/>
                  </a:lnTo>
                  <a:cubicBezTo>
                    <a:pt x="1967738" y="1527175"/>
                    <a:pt x="1527302" y="1967738"/>
                    <a:pt x="983869" y="1967738"/>
                  </a:cubicBezTo>
                  <a:lnTo>
                    <a:pt x="983869" y="1959229"/>
                  </a:lnTo>
                  <a:lnTo>
                    <a:pt x="983869" y="1967738"/>
                  </a:lnTo>
                  <a:cubicBezTo>
                    <a:pt x="440436" y="1967611"/>
                    <a:pt x="0" y="1527175"/>
                    <a:pt x="0" y="983869"/>
                  </a:cubicBezTo>
                  <a:lnTo>
                    <a:pt x="8509" y="983869"/>
                  </a:lnTo>
                  <a:lnTo>
                    <a:pt x="17018" y="983869"/>
                  </a:lnTo>
                  <a:lnTo>
                    <a:pt x="8509" y="983869"/>
                  </a:lnTo>
                  <a:lnTo>
                    <a:pt x="0" y="983869"/>
                  </a:lnTo>
                  <a:moveTo>
                    <a:pt x="16891" y="983869"/>
                  </a:moveTo>
                  <a:cubicBezTo>
                    <a:pt x="16891" y="988568"/>
                    <a:pt x="13081" y="992378"/>
                    <a:pt x="8382" y="992378"/>
                  </a:cubicBezTo>
                  <a:cubicBezTo>
                    <a:pt x="3683" y="992378"/>
                    <a:pt x="0" y="988441"/>
                    <a:pt x="0" y="983869"/>
                  </a:cubicBezTo>
                  <a:cubicBezTo>
                    <a:pt x="0" y="979297"/>
                    <a:pt x="3810" y="975360"/>
                    <a:pt x="8509" y="975360"/>
                  </a:cubicBezTo>
                  <a:cubicBezTo>
                    <a:pt x="13208" y="975360"/>
                    <a:pt x="17018" y="979170"/>
                    <a:pt x="17018" y="983869"/>
                  </a:cubicBezTo>
                  <a:cubicBezTo>
                    <a:pt x="17018" y="1517904"/>
                    <a:pt x="449961" y="1950720"/>
                    <a:pt x="983869" y="1950720"/>
                  </a:cubicBezTo>
                  <a:cubicBezTo>
                    <a:pt x="1517904" y="1950720"/>
                    <a:pt x="1950720" y="1517777"/>
                    <a:pt x="1950720" y="983869"/>
                  </a:cubicBezTo>
                  <a:cubicBezTo>
                    <a:pt x="1950720" y="449834"/>
                    <a:pt x="1517777" y="17018"/>
                    <a:pt x="983869" y="17018"/>
                  </a:cubicBezTo>
                  <a:lnTo>
                    <a:pt x="983869" y="8509"/>
                  </a:lnTo>
                  <a:lnTo>
                    <a:pt x="983869" y="17018"/>
                  </a:lnTo>
                  <a:cubicBezTo>
                    <a:pt x="449834" y="16891"/>
                    <a:pt x="16891" y="449834"/>
                    <a:pt x="16891" y="983869"/>
                  </a:cubicBezTo>
                  <a:close/>
                </a:path>
              </a:pathLst>
            </a:custGeom>
            <a:solidFill>
              <a:srgbClr val="C084FC">
                <a:alpha val="2000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1377953" y="7903207"/>
            <a:ext cx="3487417" cy="3487417"/>
            <a:chOff x="0" y="0"/>
            <a:chExt cx="4649889" cy="46498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27" y="0"/>
              <a:ext cx="4650105" cy="4649978"/>
            </a:xfrm>
            <a:custGeom>
              <a:avLst/>
              <a:gdLst/>
              <a:ahLst/>
              <a:cxnLst/>
              <a:rect r="r" b="b" t="t" l="l"/>
              <a:pathLst>
                <a:path h="4649978" w="4650105">
                  <a:moveTo>
                    <a:pt x="127" y="2324989"/>
                  </a:moveTo>
                  <a:cubicBezTo>
                    <a:pt x="127" y="1040892"/>
                    <a:pt x="1041019" y="0"/>
                    <a:pt x="2325116" y="0"/>
                  </a:cubicBezTo>
                  <a:lnTo>
                    <a:pt x="2325116" y="8509"/>
                  </a:lnTo>
                  <a:lnTo>
                    <a:pt x="2325116" y="0"/>
                  </a:lnTo>
                  <a:cubicBezTo>
                    <a:pt x="3609086" y="0"/>
                    <a:pt x="4650105" y="1040892"/>
                    <a:pt x="4650105" y="2324989"/>
                  </a:cubicBezTo>
                  <a:lnTo>
                    <a:pt x="4641596" y="2324989"/>
                  </a:lnTo>
                  <a:lnTo>
                    <a:pt x="4650105" y="2324989"/>
                  </a:lnTo>
                  <a:cubicBezTo>
                    <a:pt x="4650105" y="3608959"/>
                    <a:pt x="3609213" y="4649978"/>
                    <a:pt x="2325116" y="4649978"/>
                  </a:cubicBezTo>
                  <a:lnTo>
                    <a:pt x="2325116" y="4641469"/>
                  </a:lnTo>
                  <a:lnTo>
                    <a:pt x="2325116" y="4649978"/>
                  </a:lnTo>
                  <a:cubicBezTo>
                    <a:pt x="1041019" y="4649851"/>
                    <a:pt x="127" y="3608959"/>
                    <a:pt x="127" y="2324989"/>
                  </a:cubicBezTo>
                  <a:lnTo>
                    <a:pt x="8636" y="2324989"/>
                  </a:lnTo>
                  <a:lnTo>
                    <a:pt x="17145" y="2324989"/>
                  </a:lnTo>
                  <a:lnTo>
                    <a:pt x="8636" y="2324989"/>
                  </a:lnTo>
                  <a:lnTo>
                    <a:pt x="127" y="2324989"/>
                  </a:lnTo>
                  <a:moveTo>
                    <a:pt x="17018" y="2324989"/>
                  </a:moveTo>
                  <a:cubicBezTo>
                    <a:pt x="17018" y="2329688"/>
                    <a:pt x="13208" y="2333498"/>
                    <a:pt x="8509" y="2333498"/>
                  </a:cubicBezTo>
                  <a:cubicBezTo>
                    <a:pt x="3810" y="2333498"/>
                    <a:pt x="0" y="2329688"/>
                    <a:pt x="0" y="2324989"/>
                  </a:cubicBezTo>
                  <a:cubicBezTo>
                    <a:pt x="0" y="2320290"/>
                    <a:pt x="3810" y="2316480"/>
                    <a:pt x="8509" y="2316480"/>
                  </a:cubicBezTo>
                  <a:cubicBezTo>
                    <a:pt x="13208" y="2316480"/>
                    <a:pt x="17018" y="2320290"/>
                    <a:pt x="17018" y="2324989"/>
                  </a:cubicBezTo>
                  <a:cubicBezTo>
                    <a:pt x="17018" y="3599688"/>
                    <a:pt x="1050417" y="4632960"/>
                    <a:pt x="2325116" y="4632960"/>
                  </a:cubicBezTo>
                  <a:cubicBezTo>
                    <a:pt x="3599815" y="4632960"/>
                    <a:pt x="4633087" y="3599688"/>
                    <a:pt x="4633087" y="2324989"/>
                  </a:cubicBezTo>
                  <a:cubicBezTo>
                    <a:pt x="4633087" y="1050290"/>
                    <a:pt x="3599815" y="16891"/>
                    <a:pt x="2325116" y="16891"/>
                  </a:cubicBezTo>
                  <a:lnTo>
                    <a:pt x="2325116" y="8509"/>
                  </a:lnTo>
                  <a:lnTo>
                    <a:pt x="2325116" y="17018"/>
                  </a:lnTo>
                  <a:cubicBezTo>
                    <a:pt x="1050417" y="16891"/>
                    <a:pt x="17018" y="1050290"/>
                    <a:pt x="17018" y="2324989"/>
                  </a:cubicBezTo>
                  <a:close/>
                </a:path>
              </a:pathLst>
            </a:custGeom>
            <a:solidFill>
              <a:srgbClr val="C084FC">
                <a:alpha val="1215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2383793" y="7400287"/>
            <a:ext cx="5499097" cy="5499097"/>
            <a:chOff x="0" y="0"/>
            <a:chExt cx="7332129" cy="73321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2091" cy="7332218"/>
            </a:xfrm>
            <a:custGeom>
              <a:avLst/>
              <a:gdLst/>
              <a:ahLst/>
              <a:cxnLst/>
              <a:rect r="r" b="b" t="t" l="l"/>
              <a:pathLst>
                <a:path h="7332218" w="7332091">
                  <a:moveTo>
                    <a:pt x="0" y="3666109"/>
                  </a:moveTo>
                  <a:cubicBezTo>
                    <a:pt x="0" y="1641348"/>
                    <a:pt x="1641348" y="0"/>
                    <a:pt x="3666109" y="0"/>
                  </a:cubicBezTo>
                  <a:lnTo>
                    <a:pt x="3666109" y="8509"/>
                  </a:lnTo>
                  <a:lnTo>
                    <a:pt x="3666109" y="0"/>
                  </a:lnTo>
                  <a:cubicBezTo>
                    <a:pt x="5690743" y="0"/>
                    <a:pt x="7332091" y="1641348"/>
                    <a:pt x="7332091" y="3666109"/>
                  </a:cubicBezTo>
                  <a:cubicBezTo>
                    <a:pt x="7332091" y="5690870"/>
                    <a:pt x="5690743" y="7332218"/>
                    <a:pt x="3665982" y="7332218"/>
                  </a:cubicBezTo>
                  <a:lnTo>
                    <a:pt x="3665982" y="7323710"/>
                  </a:lnTo>
                  <a:lnTo>
                    <a:pt x="3665982" y="7332218"/>
                  </a:lnTo>
                  <a:cubicBezTo>
                    <a:pt x="1641348" y="7332091"/>
                    <a:pt x="0" y="5690743"/>
                    <a:pt x="0" y="3666109"/>
                  </a:cubicBezTo>
                  <a:lnTo>
                    <a:pt x="8509" y="3666109"/>
                  </a:lnTo>
                  <a:lnTo>
                    <a:pt x="15621" y="3670681"/>
                  </a:lnTo>
                  <a:cubicBezTo>
                    <a:pt x="13589" y="3673856"/>
                    <a:pt x="9779" y="3675253"/>
                    <a:pt x="6096" y="3674237"/>
                  </a:cubicBezTo>
                  <a:cubicBezTo>
                    <a:pt x="2413" y="3673221"/>
                    <a:pt x="0" y="3669919"/>
                    <a:pt x="0" y="3666109"/>
                  </a:cubicBezTo>
                  <a:moveTo>
                    <a:pt x="16891" y="3666109"/>
                  </a:moveTo>
                  <a:lnTo>
                    <a:pt x="8509" y="3666109"/>
                  </a:lnTo>
                  <a:lnTo>
                    <a:pt x="1397" y="3661537"/>
                  </a:lnTo>
                  <a:cubicBezTo>
                    <a:pt x="3429" y="3658362"/>
                    <a:pt x="7239" y="3656965"/>
                    <a:pt x="10922" y="3657981"/>
                  </a:cubicBezTo>
                  <a:cubicBezTo>
                    <a:pt x="14605" y="3658997"/>
                    <a:pt x="17018" y="3662299"/>
                    <a:pt x="17018" y="3666109"/>
                  </a:cubicBezTo>
                  <a:cubicBezTo>
                    <a:pt x="16891" y="5681472"/>
                    <a:pt x="1650746" y="7315200"/>
                    <a:pt x="3666109" y="7315200"/>
                  </a:cubicBezTo>
                  <a:cubicBezTo>
                    <a:pt x="5681472" y="7315200"/>
                    <a:pt x="7315200" y="5681472"/>
                    <a:pt x="7315200" y="3666109"/>
                  </a:cubicBezTo>
                  <a:lnTo>
                    <a:pt x="7323709" y="3666109"/>
                  </a:lnTo>
                  <a:lnTo>
                    <a:pt x="7315200" y="3666109"/>
                  </a:lnTo>
                  <a:cubicBezTo>
                    <a:pt x="7315200" y="1650746"/>
                    <a:pt x="5681472" y="16891"/>
                    <a:pt x="3666109" y="16891"/>
                  </a:cubicBezTo>
                  <a:lnTo>
                    <a:pt x="3666109" y="8509"/>
                  </a:lnTo>
                  <a:lnTo>
                    <a:pt x="3666109" y="17018"/>
                  </a:lnTo>
                  <a:cubicBezTo>
                    <a:pt x="1650746" y="16891"/>
                    <a:pt x="16891" y="1650746"/>
                    <a:pt x="16891" y="3666109"/>
                  </a:cubicBezTo>
                  <a:close/>
                </a:path>
              </a:pathLst>
            </a:custGeom>
            <a:solidFill>
              <a:srgbClr val="C084FC">
                <a:alpha val="588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89633" y="6897367"/>
            <a:ext cx="7510777" cy="7510777"/>
            <a:chOff x="0" y="0"/>
            <a:chExt cx="10014369" cy="100143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127" y="0"/>
              <a:ext cx="10014458" cy="10014458"/>
            </a:xfrm>
            <a:custGeom>
              <a:avLst/>
              <a:gdLst/>
              <a:ahLst/>
              <a:cxnLst/>
              <a:rect r="r" b="b" t="t" l="l"/>
              <a:pathLst>
                <a:path h="10014458" w="10014458">
                  <a:moveTo>
                    <a:pt x="127" y="5007229"/>
                  </a:moveTo>
                  <a:cubicBezTo>
                    <a:pt x="127" y="2241804"/>
                    <a:pt x="2241931" y="0"/>
                    <a:pt x="5007356" y="0"/>
                  </a:cubicBezTo>
                  <a:lnTo>
                    <a:pt x="5007356" y="8509"/>
                  </a:lnTo>
                  <a:lnTo>
                    <a:pt x="5007356" y="0"/>
                  </a:lnTo>
                  <a:cubicBezTo>
                    <a:pt x="7772654" y="0"/>
                    <a:pt x="10014458" y="2241804"/>
                    <a:pt x="10014458" y="5007229"/>
                  </a:cubicBezTo>
                  <a:lnTo>
                    <a:pt x="10005950" y="5007229"/>
                  </a:lnTo>
                  <a:lnTo>
                    <a:pt x="10014458" y="5007229"/>
                  </a:lnTo>
                  <a:cubicBezTo>
                    <a:pt x="10014458" y="7772654"/>
                    <a:pt x="7772654" y="10014458"/>
                    <a:pt x="5007230" y="10014458"/>
                  </a:cubicBezTo>
                  <a:lnTo>
                    <a:pt x="5007230" y="10005949"/>
                  </a:lnTo>
                  <a:lnTo>
                    <a:pt x="5007230" y="10014458"/>
                  </a:lnTo>
                  <a:cubicBezTo>
                    <a:pt x="2241931" y="10014331"/>
                    <a:pt x="127" y="7772527"/>
                    <a:pt x="127" y="5007229"/>
                  </a:cubicBezTo>
                  <a:lnTo>
                    <a:pt x="8636" y="5007229"/>
                  </a:lnTo>
                  <a:lnTo>
                    <a:pt x="17145" y="5007229"/>
                  </a:lnTo>
                  <a:lnTo>
                    <a:pt x="8636" y="5007229"/>
                  </a:lnTo>
                  <a:lnTo>
                    <a:pt x="127" y="5007229"/>
                  </a:lnTo>
                  <a:moveTo>
                    <a:pt x="17018" y="5007229"/>
                  </a:moveTo>
                  <a:cubicBezTo>
                    <a:pt x="17018" y="5011928"/>
                    <a:pt x="13208" y="5015738"/>
                    <a:pt x="8509" y="5015738"/>
                  </a:cubicBezTo>
                  <a:cubicBezTo>
                    <a:pt x="3810" y="5015738"/>
                    <a:pt x="0" y="5011928"/>
                    <a:pt x="0" y="5007229"/>
                  </a:cubicBezTo>
                  <a:cubicBezTo>
                    <a:pt x="0" y="5002530"/>
                    <a:pt x="3810" y="4998720"/>
                    <a:pt x="8509" y="4998720"/>
                  </a:cubicBezTo>
                  <a:cubicBezTo>
                    <a:pt x="13208" y="4998720"/>
                    <a:pt x="17018" y="5002530"/>
                    <a:pt x="17018" y="5007229"/>
                  </a:cubicBezTo>
                  <a:cubicBezTo>
                    <a:pt x="17018" y="7763256"/>
                    <a:pt x="2251202" y="9997440"/>
                    <a:pt x="5007229" y="9997440"/>
                  </a:cubicBezTo>
                  <a:cubicBezTo>
                    <a:pt x="7763255" y="9997440"/>
                    <a:pt x="9997440" y="7763256"/>
                    <a:pt x="9997440" y="5007229"/>
                  </a:cubicBezTo>
                  <a:cubicBezTo>
                    <a:pt x="9997567" y="2251202"/>
                    <a:pt x="7763383" y="16891"/>
                    <a:pt x="5007356" y="16891"/>
                  </a:cubicBezTo>
                  <a:lnTo>
                    <a:pt x="5007356" y="8509"/>
                  </a:lnTo>
                  <a:lnTo>
                    <a:pt x="5007356" y="17018"/>
                  </a:lnTo>
                  <a:cubicBezTo>
                    <a:pt x="2251329" y="16891"/>
                    <a:pt x="17018" y="2251202"/>
                    <a:pt x="17018" y="5007229"/>
                  </a:cubicBezTo>
                  <a:close/>
                </a:path>
              </a:pathLst>
            </a:custGeom>
            <a:solidFill>
              <a:srgbClr val="C084FC">
                <a:alpha val="1961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12697" y="-12697"/>
            <a:ext cx="18313403" cy="135131"/>
            <a:chOff x="0" y="0"/>
            <a:chExt cx="24417871" cy="1801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417782" cy="180088"/>
            </a:xfrm>
            <a:custGeom>
              <a:avLst/>
              <a:gdLst/>
              <a:ahLst/>
              <a:cxnLst/>
              <a:rect r="r" b="b" t="t" l="l"/>
              <a:pathLst>
                <a:path h="18008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63195"/>
                  </a:lnTo>
                  <a:cubicBezTo>
                    <a:pt x="24417782" y="172593"/>
                    <a:pt x="24410163" y="180086"/>
                    <a:pt x="244008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4400890" y="146304"/>
                  </a:lnTo>
                  <a:lnTo>
                    <a:pt x="24400890" y="163195"/>
                  </a:lnTo>
                  <a:lnTo>
                    <a:pt x="24384000" y="16319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-12697" y="10164575"/>
            <a:ext cx="18313403" cy="135131"/>
            <a:chOff x="0" y="0"/>
            <a:chExt cx="24417871" cy="1801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4383999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417782" cy="180088"/>
            </a:xfrm>
            <a:custGeom>
              <a:avLst/>
              <a:gdLst/>
              <a:ahLst/>
              <a:cxnLst/>
              <a:rect r="r" b="b" t="t" l="l"/>
              <a:pathLst>
                <a:path h="18008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63195"/>
                  </a:lnTo>
                  <a:cubicBezTo>
                    <a:pt x="24417782" y="172593"/>
                    <a:pt x="24410163" y="180086"/>
                    <a:pt x="244008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24400890" y="146304"/>
                  </a:lnTo>
                  <a:lnTo>
                    <a:pt x="24400890" y="163195"/>
                  </a:lnTo>
                  <a:lnTo>
                    <a:pt x="24384000" y="16319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43200" y="3644894"/>
            <a:ext cx="12801600" cy="1828800"/>
            <a:chOff x="0" y="0"/>
            <a:chExt cx="1706880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688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09550"/>
              <a:ext cx="17068800" cy="2647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743200" y="6144768"/>
            <a:ext cx="12801600" cy="694944"/>
            <a:chOff x="0" y="0"/>
            <a:chExt cx="1706880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934" r="0" b="-3089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70688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Readiness Decision Intelligence System  ·  with Report Assistant Chat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73703" y="7083047"/>
            <a:ext cx="7340603" cy="80267"/>
            <a:chOff x="0" y="0"/>
            <a:chExt cx="9787471" cy="1070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6891" y="16891"/>
              <a:ext cx="9753600" cy="73152"/>
            </a:xfrm>
            <a:custGeom>
              <a:avLst/>
              <a:gdLst/>
              <a:ahLst/>
              <a:cxnLst/>
              <a:rect r="r" b="b" t="t" l="l"/>
              <a:pathLst>
                <a:path h="731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A3E63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87382" cy="106936"/>
            </a:xfrm>
            <a:custGeom>
              <a:avLst/>
              <a:gdLst/>
              <a:ahLst/>
              <a:cxnLst/>
              <a:rect r="r" b="b" t="t" l="l"/>
              <a:pathLst>
                <a:path h="106936" w="9787382">
                  <a:moveTo>
                    <a:pt x="16891" y="0"/>
                  </a:moveTo>
                  <a:lnTo>
                    <a:pt x="9770491" y="0"/>
                  </a:lnTo>
                  <a:cubicBezTo>
                    <a:pt x="9779889" y="0"/>
                    <a:pt x="9787382" y="7620"/>
                    <a:pt x="9787382" y="16891"/>
                  </a:cubicBezTo>
                  <a:lnTo>
                    <a:pt x="9787382" y="90043"/>
                  </a:lnTo>
                  <a:cubicBezTo>
                    <a:pt x="9787382" y="99441"/>
                    <a:pt x="9779762" y="106934"/>
                    <a:pt x="977049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9770491" y="73152"/>
                  </a:lnTo>
                  <a:lnTo>
                    <a:pt x="9770491" y="90043"/>
                  </a:lnTo>
                  <a:lnTo>
                    <a:pt x="9753600" y="90043"/>
                  </a:lnTo>
                  <a:lnTo>
                    <a:pt x="9753600" y="16891"/>
                  </a:lnTo>
                  <a:lnTo>
                    <a:pt x="9770491" y="16891"/>
                  </a:lnTo>
                  <a:lnTo>
                    <a:pt x="9770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41783" y="7485383"/>
            <a:ext cx="2805179" cy="574043"/>
            <a:chOff x="0" y="0"/>
            <a:chExt cx="3740239" cy="7653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40150" cy="765304"/>
            </a:xfrm>
            <a:custGeom>
              <a:avLst/>
              <a:gdLst/>
              <a:ahLst/>
              <a:cxnLst/>
              <a:rect r="r" b="b" t="t" l="l"/>
              <a:pathLst>
                <a:path h="765304" w="3740150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748411"/>
                  </a:lnTo>
                  <a:cubicBezTo>
                    <a:pt x="3740150" y="757809"/>
                    <a:pt x="3732530" y="765302"/>
                    <a:pt x="37232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723259" y="731520"/>
                  </a:lnTo>
                  <a:lnTo>
                    <a:pt x="3723259" y="748411"/>
                  </a:lnTo>
                  <a:lnTo>
                    <a:pt x="3706368" y="748411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54480" y="7498080"/>
            <a:ext cx="2779776" cy="548640"/>
            <a:chOff x="0" y="0"/>
            <a:chExt cx="3706368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7063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Claude 3.5 Sonnet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614167" y="7485383"/>
            <a:ext cx="2805179" cy="574043"/>
            <a:chOff x="0" y="0"/>
            <a:chExt cx="3740239" cy="7653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40150" cy="765304"/>
            </a:xfrm>
            <a:custGeom>
              <a:avLst/>
              <a:gdLst/>
              <a:ahLst/>
              <a:cxnLst/>
              <a:rect r="r" b="b" t="t" l="l"/>
              <a:pathLst>
                <a:path h="765304" w="3740150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748411"/>
                  </a:lnTo>
                  <a:cubicBezTo>
                    <a:pt x="3740150" y="757809"/>
                    <a:pt x="3732530" y="765302"/>
                    <a:pt x="37232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723259" y="731520"/>
                  </a:lnTo>
                  <a:lnTo>
                    <a:pt x="3723259" y="748411"/>
                  </a:lnTo>
                  <a:lnTo>
                    <a:pt x="3706368" y="748411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626864" y="7498080"/>
            <a:ext cx="2779776" cy="548640"/>
            <a:chOff x="0" y="0"/>
            <a:chExt cx="3706368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7063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Amazon Titan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686551" y="7485383"/>
            <a:ext cx="2805179" cy="574043"/>
            <a:chOff x="0" y="0"/>
            <a:chExt cx="3740239" cy="7653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40150" cy="765304"/>
            </a:xfrm>
            <a:custGeom>
              <a:avLst/>
              <a:gdLst/>
              <a:ahLst/>
              <a:cxnLst/>
              <a:rect r="r" b="b" t="t" l="l"/>
              <a:pathLst>
                <a:path h="765304" w="3740150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748411"/>
                  </a:lnTo>
                  <a:cubicBezTo>
                    <a:pt x="3740150" y="757809"/>
                    <a:pt x="3732530" y="765302"/>
                    <a:pt x="37232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723259" y="731520"/>
                  </a:lnTo>
                  <a:lnTo>
                    <a:pt x="3723259" y="748411"/>
                  </a:lnTo>
                  <a:lnTo>
                    <a:pt x="3706368" y="748411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699248" y="7498080"/>
            <a:ext cx="2779776" cy="548640"/>
            <a:chOff x="0" y="0"/>
            <a:chExt cx="3706368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7063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AWS Bedrock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758935" y="7485383"/>
            <a:ext cx="2805179" cy="574043"/>
            <a:chOff x="0" y="0"/>
            <a:chExt cx="3740239" cy="7653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40150" cy="765304"/>
            </a:xfrm>
            <a:custGeom>
              <a:avLst/>
              <a:gdLst/>
              <a:ahLst/>
              <a:cxnLst/>
              <a:rect r="r" b="b" t="t" l="l"/>
              <a:pathLst>
                <a:path h="765304" w="3740150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748411"/>
                  </a:lnTo>
                  <a:cubicBezTo>
                    <a:pt x="3740150" y="757809"/>
                    <a:pt x="3732530" y="765302"/>
                    <a:pt x="37232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723259" y="731520"/>
                  </a:lnTo>
                  <a:lnTo>
                    <a:pt x="3723259" y="748411"/>
                  </a:lnTo>
                  <a:lnTo>
                    <a:pt x="3706368" y="748411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771632" y="7498080"/>
            <a:ext cx="2779776" cy="548640"/>
            <a:chOff x="0" y="0"/>
            <a:chExt cx="3706368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7063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831319" y="7485383"/>
            <a:ext cx="2805179" cy="574043"/>
            <a:chOff x="0" y="0"/>
            <a:chExt cx="3740239" cy="76539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4182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740150" cy="765304"/>
            </a:xfrm>
            <a:custGeom>
              <a:avLst/>
              <a:gdLst/>
              <a:ahLst/>
              <a:cxnLst/>
              <a:rect r="r" b="b" t="t" l="l"/>
              <a:pathLst>
                <a:path h="765304" w="3740150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748411"/>
                  </a:lnTo>
                  <a:cubicBezTo>
                    <a:pt x="3740150" y="757809"/>
                    <a:pt x="3732530" y="765302"/>
                    <a:pt x="3723259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723259" y="731520"/>
                  </a:lnTo>
                  <a:lnTo>
                    <a:pt x="3723259" y="748411"/>
                  </a:lnTo>
                  <a:lnTo>
                    <a:pt x="3706368" y="748411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12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844016" y="7498080"/>
            <a:ext cx="2779776" cy="548640"/>
            <a:chOff x="0" y="0"/>
            <a:chExt cx="3706368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706368" cy="731520"/>
            </a:xfrm>
            <a:custGeom>
              <a:avLst/>
              <a:gdLst/>
              <a:ahLst/>
              <a:cxnLst/>
              <a:rect r="r" b="b" t="t" l="l"/>
              <a:pathLst>
                <a:path h="73152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7063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208395" y="8366379"/>
            <a:ext cx="5871210" cy="567690"/>
            <a:chOff x="0" y="0"/>
            <a:chExt cx="7828280" cy="7569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2700" y="1270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E2733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828280" cy="756920"/>
            </a:xfrm>
            <a:custGeom>
              <a:avLst/>
              <a:gdLst/>
              <a:ahLst/>
              <a:cxnLst/>
              <a:rect r="r" b="b" t="t" l="l"/>
              <a:pathLst>
                <a:path h="756920" w="7828280">
                  <a:moveTo>
                    <a:pt x="12700" y="0"/>
                  </a:moveTo>
                  <a:lnTo>
                    <a:pt x="7815580" y="0"/>
                  </a:lnTo>
                  <a:cubicBezTo>
                    <a:pt x="7822565" y="0"/>
                    <a:pt x="7828280" y="5715"/>
                    <a:pt x="7828280" y="12700"/>
                  </a:cubicBezTo>
                  <a:lnTo>
                    <a:pt x="7828280" y="744220"/>
                  </a:lnTo>
                  <a:cubicBezTo>
                    <a:pt x="7828280" y="751205"/>
                    <a:pt x="7822565" y="756920"/>
                    <a:pt x="7815580" y="756920"/>
                  </a:cubicBezTo>
                  <a:lnTo>
                    <a:pt x="12700" y="756920"/>
                  </a:lnTo>
                  <a:cubicBezTo>
                    <a:pt x="5715" y="756920"/>
                    <a:pt x="0" y="751205"/>
                    <a:pt x="0" y="7442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44220"/>
                  </a:lnTo>
                  <a:lnTo>
                    <a:pt x="12700" y="744220"/>
                  </a:lnTo>
                  <a:lnTo>
                    <a:pt x="12700" y="731520"/>
                  </a:lnTo>
                  <a:lnTo>
                    <a:pt x="7815580" y="731520"/>
                  </a:lnTo>
                  <a:lnTo>
                    <a:pt x="7815580" y="744220"/>
                  </a:lnTo>
                  <a:lnTo>
                    <a:pt x="7802880" y="744220"/>
                  </a:lnTo>
                  <a:lnTo>
                    <a:pt x="7802880" y="12700"/>
                  </a:lnTo>
                  <a:lnTo>
                    <a:pt x="7815580" y="12700"/>
                  </a:lnTo>
                  <a:lnTo>
                    <a:pt x="78155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217920" y="8375904"/>
            <a:ext cx="5852160" cy="548640"/>
            <a:chOff x="0" y="0"/>
            <a:chExt cx="780288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78028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 b="true">
                  <a:solidFill>
                    <a:srgbClr val="A3E6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Report Assistant Chat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8162756" y="2292344"/>
            <a:ext cx="1852759" cy="481717"/>
          </a:xfrm>
          <a:custGeom>
            <a:avLst/>
            <a:gdLst/>
            <a:ahLst/>
            <a:cxnLst/>
            <a:rect r="r" b="b" t="t" l="l"/>
            <a:pathLst>
              <a:path h="481717" w="1852759">
                <a:moveTo>
                  <a:pt x="0" y="0"/>
                </a:moveTo>
                <a:lnTo>
                  <a:pt x="1852760" y="0"/>
                </a:lnTo>
                <a:lnTo>
                  <a:pt x="1852760" y="481717"/>
                </a:lnTo>
                <a:lnTo>
                  <a:pt x="0" y="481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DAHCndoT3OU</dc:identifier>
  <dcterms:modified xsi:type="dcterms:W3CDTF">2011-08-01T06:04:30Z</dcterms:modified>
  <cp:revision>1</cp:revision>
  <dc:title>AI_Readiness_ZebFractal_v2.pptx</dc:title>
</cp:coreProperties>
</file>